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3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762" r:id="rId5"/>
    <p:sldMasterId id="2147484895" r:id="rId6"/>
    <p:sldMasterId id="2147484912" r:id="rId7"/>
  </p:sldMasterIdLst>
  <p:notesMasterIdLst>
    <p:notesMasterId r:id="rId18"/>
  </p:notesMasterIdLst>
  <p:handoutMasterIdLst>
    <p:handoutMasterId r:id="rId19"/>
  </p:handoutMasterIdLst>
  <p:sldIdLst>
    <p:sldId id="267" r:id="rId8"/>
    <p:sldId id="323" r:id="rId9"/>
    <p:sldId id="365" r:id="rId10"/>
    <p:sldId id="346" r:id="rId11"/>
    <p:sldId id="366" r:id="rId12"/>
    <p:sldId id="367" r:id="rId13"/>
    <p:sldId id="370" r:id="rId14"/>
    <p:sldId id="371" r:id="rId15"/>
    <p:sldId id="372" r:id="rId16"/>
    <p:sldId id="287" r:id="rId17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E955FA7-262E-3538-E9D9-8E34C2E1FE61}" name="Sharma, Sumeet" initials="SS" userId="S::sumeet.sharma@edag.com::c624ab3b-560b-4ec9-ba5e-3f3e40f08e2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ACB9"/>
    <a:srgbClr val="FB3FEE"/>
    <a:srgbClr val="A1D3C2"/>
    <a:srgbClr val="64966C"/>
    <a:srgbClr val="2F3941"/>
    <a:srgbClr val="772D5D"/>
    <a:srgbClr val="E9B73B"/>
    <a:srgbClr val="F4F5F6"/>
    <a:srgbClr val="455561"/>
    <a:srgbClr val="232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EAF9D-D2FA-93D6-56A4-81539694E498}" v="139" dt="2026-07-22T08:31:06.392"/>
    <p1510:client id="{DC960471-2D5D-478E-9AB1-1322072C8902}" v="23" dt="2026-07-20T11:08:33.28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205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69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617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64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svg"/><Relationship Id="rId4" Type="http://schemas.openxmlformats.org/officeDocument/2006/relationships/image" Target="../media/image20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9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sv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sv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2.sv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</a:t>
            </a:r>
            <a:r>
              <a:rPr lang="de-DE">
                <a:solidFill>
                  <a:srgbClr val="E4E5E6"/>
                </a:solidFill>
              </a:rPr>
              <a:t> Robin </a:t>
            </a:r>
            <a:r>
              <a:rPr lang="de-DE"/>
              <a:t>Schneider, Ahmed Mahmoud     </a:t>
            </a:r>
            <a:r>
              <a:rPr lang="en-US"/>
              <a:t>Version: 1.0                                            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-10633"/>
            <a:ext cx="12192000" cy="6847368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1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B081142B-FD13-295A-8F8F-011FE3CB668C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41405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DC322D7-8BBC-223B-7F6E-E89C38DDC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" y="40"/>
            <a:ext cx="12191856" cy="6857919"/>
          </a:xfrm>
          <a:prstGeom prst="rect">
            <a:avLst/>
          </a:prstGeom>
        </p:spPr>
      </p:pic>
      <p:sp>
        <p:nvSpPr>
          <p:cNvPr id="7" name="Rectangle18">
            <a:extLst>
              <a:ext uri="{FF2B5EF4-FFF2-40B4-BE49-F238E27FC236}">
                <a16:creationId xmlns:a16="http://schemas.microsoft.com/office/drawing/2014/main" id="{569ACAB2-94B5-4E1F-5E1A-E3042F0B371A}"/>
              </a:ext>
            </a:extLst>
          </p:cNvPr>
          <p:cNvSpPr/>
          <p:nvPr userDrawn="1"/>
        </p:nvSpPr>
        <p:spPr bwMode="gray">
          <a:xfrm>
            <a:off x="1" y="2803161"/>
            <a:ext cx="12191998" cy="4054838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8" name="Rectangle18">
            <a:extLst>
              <a:ext uri="{FF2B5EF4-FFF2-40B4-BE49-F238E27FC236}">
                <a16:creationId xmlns:a16="http://schemas.microsoft.com/office/drawing/2014/main" id="{0CF8992D-7906-BF8B-88B0-088974646A5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9" name="Grafik 11">
            <a:extLst>
              <a:ext uri="{FF2B5EF4-FFF2-40B4-BE49-F238E27FC236}">
                <a16:creationId xmlns:a16="http://schemas.microsoft.com/office/drawing/2014/main" id="{FA67AE02-F4CB-BEDF-4188-B7FFF06087D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8B6D89-E8B9-DAFC-721B-FA4E1FF5CE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17" name="TextBox 28">
            <a:extLst>
              <a:ext uri="{FF2B5EF4-FFF2-40B4-BE49-F238E27FC236}">
                <a16:creationId xmlns:a16="http://schemas.microsoft.com/office/drawing/2014/main" id="{89657547-2A56-C180-4AC3-F918DCF781B3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</a:t>
            </a: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</a:t>
            </a: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NGINEERING</a:t>
            </a:r>
            <a:r>
              <a:rPr lang="de-DE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grpSp>
        <p:nvGrpSpPr>
          <p:cNvPr id="18" name="Graphic 6">
            <a:extLst>
              <a:ext uri="{FF2B5EF4-FFF2-40B4-BE49-F238E27FC236}">
                <a16:creationId xmlns:a16="http://schemas.microsoft.com/office/drawing/2014/main" id="{785F30A6-E529-18E2-041E-AD860F8C5734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71F3A9F-5F29-8334-6981-CA0FE6F4CA6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786C1F0-F7F3-9569-D640-544F75473A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D64822F-A299-0380-71B7-12CD4CBDD32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F766340-74F2-E64A-2256-2EB79E0A8190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BD90CD9-1CDD-340F-E147-01913F8EF88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E6E4DF6-CEBA-8229-6F3B-319795EEC172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8F5EE315-F265-F959-132A-93CFB29A065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EE54975-CA5D-120A-6599-6D76168A923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3" name="Subtitle 2">
            <a:extLst>
              <a:ext uri="{FF2B5EF4-FFF2-40B4-BE49-F238E27FC236}">
                <a16:creationId xmlns:a16="http://schemas.microsoft.com/office/drawing/2014/main" id="{D948EAF4-D4D2-C89D-CDF9-806D80157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34" name="Textplatzhalter 9">
            <a:extLst>
              <a:ext uri="{FF2B5EF4-FFF2-40B4-BE49-F238E27FC236}">
                <a16:creationId xmlns:a16="http://schemas.microsoft.com/office/drawing/2014/main" id="{05D801B5-CF48-AC23-413C-A0824C011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Datum | Ort | Event</a:t>
            </a:r>
          </a:p>
        </p:txBody>
      </p:sp>
      <p:sp>
        <p:nvSpPr>
          <p:cNvPr id="35" name="Titel 11">
            <a:extLst>
              <a:ext uri="{FF2B5EF4-FFF2-40B4-BE49-F238E27FC236}">
                <a16:creationId xmlns:a16="http://schemas.microsoft.com/office/drawing/2014/main" id="{A034A183-0448-3B5E-4D9D-B4E312AF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45953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18">
            <a:extLst>
              <a:ext uri="{FF2B5EF4-FFF2-40B4-BE49-F238E27FC236}">
                <a16:creationId xmlns:a16="http://schemas.microsoft.com/office/drawing/2014/main" id="{36BB3659-2D41-CD3C-2172-42DF2A86FFC8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6" name="TextBox 28">
            <a:extLst>
              <a:ext uri="{FF2B5EF4-FFF2-40B4-BE49-F238E27FC236}">
                <a16:creationId xmlns:a16="http://schemas.microsoft.com/office/drawing/2014/main" id="{090CBFED-6C95-C9EC-C8A3-555393EE9EFC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7" name="Graphic 6">
            <a:extLst>
              <a:ext uri="{FF2B5EF4-FFF2-40B4-BE49-F238E27FC236}">
                <a16:creationId xmlns:a16="http://schemas.microsoft.com/office/drawing/2014/main" id="{9459EC23-62CB-93C6-14B7-769AD8D50463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5D92E7E7-3CDF-E948-F6B5-17C793B1FA79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3B351D6C-7E3D-1D0C-EB5D-6DB8F025859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8872E598-0875-04FB-6BF3-FD153ED2A98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180094C8-496B-A90D-5AFB-F1CB6723CF75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9">
              <a:extLst>
                <a:ext uri="{FF2B5EF4-FFF2-40B4-BE49-F238E27FC236}">
                  <a16:creationId xmlns:a16="http://schemas.microsoft.com/office/drawing/2014/main" id="{B62BACCE-9BE6-DF6C-91D8-32FC4022EE29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BBE9EFF2-5572-8E8B-27E6-A9464B56F9F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4ED54CFE-41A9-B978-9A3A-4D818D3E2EEA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C0A02B44-BBED-6A93-C822-A0B4B79F0DF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2D21044-5DD0-D831-12D1-7A34701A2C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103D27D-FE72-D7E9-3148-D2A2CBA11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D064D6-BDD1-E23C-C439-69FB5BE4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416128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7EFAF703-D178-B07D-192F-060644B89D3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9613594D-2373-D228-A9DA-909C756672C6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5" name="Graphic 6">
            <a:extLst>
              <a:ext uri="{FF2B5EF4-FFF2-40B4-BE49-F238E27FC236}">
                <a16:creationId xmlns:a16="http://schemas.microsoft.com/office/drawing/2014/main" id="{63C8B38E-104B-97F0-93B2-C623605B9302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61AAF0CA-D4DC-5EA3-61A9-C96A7AFFC002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0C509557-5D28-A195-A92C-ED248F6225DB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A19EE3A-C90C-496E-F016-AD288537BBD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7F9A2FA7-B7D4-9887-155D-BC2ABFDEBC2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D418160C-3598-2071-4632-C2A5A21523B8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33051EEC-7839-D5DC-78B8-FDCBFEC394BE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68F398DD-71CF-1814-F575-31E176BB93C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38119E14-33A9-F60D-1B6E-319DE9DBD0A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578F399-4BF3-6E84-056E-83E767D7BB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444B9BCC-A43D-D0C5-0FB3-A8C4413E0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0D092-3E4C-D184-B5BC-84F5D355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20178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6295FC7A-2714-D6EC-D6B0-6F1C363D09BE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334B122-CE8E-B66B-BC1F-20E903A83521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5" name="Graphic 6">
            <a:extLst>
              <a:ext uri="{FF2B5EF4-FFF2-40B4-BE49-F238E27FC236}">
                <a16:creationId xmlns:a16="http://schemas.microsoft.com/office/drawing/2014/main" id="{912C4E18-7E22-B706-19E8-8324526032D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DA83C0FF-EA8D-DD18-3C51-01351CCC489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940000FE-8E45-F035-47BD-48E0159CAF33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0B602A3-BFA6-C221-4E13-B75B890261A2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D61DE3DA-109C-BAB3-E888-CFCC3783C86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126EAE3F-E955-5C04-BC2D-1AA20430307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6001DF23-909D-BDCE-C7F3-79984D19833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0DD641E6-7EB2-A989-A3B2-9CCDC819B2A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171BFAA3-43B4-23C1-C855-179D91C48AD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6C5A022-9BF0-4B86-6B01-6C00CE4066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211FAC17-37F0-FF9A-8DC2-34375B1FC2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D32ECD-5ABD-78DA-1B2F-D2435314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68563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E5380CB-CDF4-761C-C7FB-C90DC1AF1E5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E3254384-DF96-0A52-B8B2-8E9B4320158E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5EDA8-E86F-1CE0-9FEF-A36D40A39806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D0B07797-BD44-B818-1A61-86CACDC3B4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B5DAFA87-BD96-A9D1-225B-4BBEEB043AD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4CD5D1EB-6C64-A00D-DAB7-B538C6CA8381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6D5FA52-8A86-0FEE-0839-1F0216B22C8B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6AD35A30-3D9E-4120-3AA9-F4CBA87E044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1901599E-B0BC-3B7C-F34E-52EC4E48142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C7C936B4-DD0F-72F7-F7C8-B229DC4BEBA9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0D155637-759A-0307-B157-81E275590FE4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7758FBCE-635D-BCC0-C9A4-681AE172FD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E8A2758-6F9D-D8B3-B09A-6672A40EEF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B3884-A8C6-5F5D-ADDA-63CCA46E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5041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8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18">
            <a:extLst>
              <a:ext uri="{FF2B5EF4-FFF2-40B4-BE49-F238E27FC236}">
                <a16:creationId xmlns:a16="http://schemas.microsoft.com/office/drawing/2014/main" id="{60DCAAEF-7030-B121-05CE-7FF693F3C9E5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38000">
                <a:schemeClr val="tx1"/>
              </a:gs>
              <a:gs pos="100000">
                <a:schemeClr val="tx1">
                  <a:lumMod val="5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E3254384-DF96-0A52-B8B2-8E9B4320158E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EA5FEE3E-E035-295E-C82B-3142662F44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2" name="Grafik 11">
            <a:extLst>
              <a:ext uri="{FF2B5EF4-FFF2-40B4-BE49-F238E27FC236}">
                <a16:creationId xmlns:a16="http://schemas.microsoft.com/office/drawing/2014/main" id="{88E6323C-FD83-C7BF-B1AC-70BD6A5B7F1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grpSp>
        <p:nvGrpSpPr>
          <p:cNvPr id="18" name="Graphic 6">
            <a:extLst>
              <a:ext uri="{FF2B5EF4-FFF2-40B4-BE49-F238E27FC236}">
                <a16:creationId xmlns:a16="http://schemas.microsoft.com/office/drawing/2014/main" id="{964F4ED9-A58A-ABC4-ED3A-FD99BC63E28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E2DAA0E2-6393-A14E-77D3-C19DA98CFF7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DF21ED6-BBDA-B316-3E6C-CCD575780495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C9DF41AC-4B4A-ED58-AC7F-9B915DE5E329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438CC2D-23CB-37D9-8D7F-1279AEC0731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D477EFD2-CE13-B276-CB26-105EBE8C7CA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E0E230B6-91AD-D33B-2F15-F26BB2B79165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F47EA0AF-A533-C53B-458C-C4D17673F58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20EFD3A3-7E90-3C56-65C3-734EDAABB27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4E30917C-6E1D-0EF2-151C-4F5571269F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2360B38-0C53-FD5C-27CC-F1920F1642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BE0780-3689-53ED-73AE-2E4F3652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8457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6818D1A-7DD0-8696-D518-4E087883B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228B6DAB-7B2A-F88C-BBA0-D94830B432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BDC61D-BADD-56D2-DC4D-9D3C430F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885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479F5C-224D-8B7C-F2FD-977023DAA0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A6406C3D-77E4-9144-4AC7-86AC3731C5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924D16-B51D-E393-4E0B-3DE89186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504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FEED951-38EE-AB8F-14D9-0EF6220A3C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E526FA65-5B8A-24CA-DF10-EC0FDCB25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6BAA26-3B19-D816-292E-78FB5D2C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88051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CB26E22-6CC9-6E39-95BC-6E7188815F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532E051-F042-7AD8-6375-4FF39A5AC390}"/>
              </a:ext>
            </a:extLst>
          </p:cNvPr>
          <p:cNvSpPr/>
          <p:nvPr userDrawn="1"/>
        </p:nvSpPr>
        <p:spPr bwMode="gray">
          <a:xfrm>
            <a:off x="0" y="1"/>
            <a:ext cx="12202162" cy="6858000"/>
          </a:xfrm>
          <a:prstGeom prst="rect">
            <a:avLst/>
          </a:prstGeom>
          <a:gradFill flip="none" rotWithShape="1">
            <a:gsLst>
              <a:gs pos="0">
                <a:srgbClr val="4E5E69">
                  <a:lumMod val="54000"/>
                </a:srgbClr>
              </a:gs>
              <a:gs pos="49000">
                <a:schemeClr val="tx1">
                  <a:shade val="67500"/>
                  <a:satMod val="115000"/>
                  <a:alpha val="56000"/>
                </a:schemeClr>
              </a:gs>
              <a:gs pos="100000">
                <a:schemeClr val="tx1">
                  <a:shade val="100000"/>
                  <a:satMod val="115000"/>
                  <a:alpha val="6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de-DE" sz="1200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7E509B-B20B-BAD1-CE09-613C8FD26A04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aphic 6">
            <a:extLst>
              <a:ext uri="{FF2B5EF4-FFF2-40B4-BE49-F238E27FC236}">
                <a16:creationId xmlns:a16="http://schemas.microsoft.com/office/drawing/2014/main" id="{0DA03A7A-BB68-4906-C25F-22F7EBA19044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A9CF9D7E-8F1C-919D-D405-62182C657E44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D7ABAF45-9994-241F-75BC-4FBA75A84DDE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62636FD-A2AD-9FB0-7404-B6EF4800C93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361B6C2C-B1B4-CF52-2005-EA7ACAC6BFA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3D89AB33-AB13-2B05-3B27-97A37783759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C2029AB5-18FB-81BB-77EB-AF15DE9AF36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868622FF-EDC0-CB8A-C8E7-DC0FED40462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2CC7DB8-7499-6019-5F39-BB7D21E59ED8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A061DA01-B727-636A-D452-C253DEDC22A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6" name="Grafik 11">
            <a:extLst>
              <a:ext uri="{FF2B5EF4-FFF2-40B4-BE49-F238E27FC236}">
                <a16:creationId xmlns:a16="http://schemas.microsoft.com/office/drawing/2014/main" id="{09266F1D-8BBF-2E2B-1233-35841EC5626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sp>
        <p:nvSpPr>
          <p:cNvPr id="23" name="TextBox 28">
            <a:extLst>
              <a:ext uri="{FF2B5EF4-FFF2-40B4-BE49-F238E27FC236}">
                <a16:creationId xmlns:a16="http://schemas.microsoft.com/office/drawing/2014/main" id="{67DB5C9F-857B-7CD3-E52E-230383D70EA7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22F19C80-1675-2919-E0B6-813DD5CD41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F465E27F-93B4-7803-5A0A-2FFA5EC1D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97308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3">
    <p:bg>
      <p:bgPr>
        <a:gradFill>
          <a:gsLst>
            <a:gs pos="0">
              <a:schemeClr val="tx1"/>
            </a:gs>
            <a:gs pos="100000">
              <a:srgbClr val="2F394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E25E5959-49FB-30E1-48F3-1AC32FA3DF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3772286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687F24EB-2B10-A123-081D-23B4B74E0A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Rectangle18">
            <a:extLst>
              <a:ext uri="{FF2B5EF4-FFF2-40B4-BE49-F238E27FC236}">
                <a16:creationId xmlns:a16="http://schemas.microsoft.com/office/drawing/2014/main" id="{D017BF30-C0BC-17E7-5C1F-326D396EF98D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tx1">
                  <a:lumMod val="20000"/>
                  <a:lumOff val="80000"/>
                  <a:alpha val="28000"/>
                </a:schemeClr>
              </a:gs>
              <a:gs pos="96000">
                <a:schemeClr val="tx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MOBILITY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Industry engineering 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bg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ACAEEE58-BAAA-F965-3A4F-4A1EF48606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212419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11">
            <a:extLst>
              <a:ext uri="{FF2B5EF4-FFF2-40B4-BE49-F238E27FC236}">
                <a16:creationId xmlns:a16="http://schemas.microsoft.com/office/drawing/2014/main" id="{0F5E8CB3-5CB1-31CB-EB6C-BE97BBC6BB6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CC5CDFBF-F32E-B4DF-D575-425BDD3A3C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29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9040E4FB-D366-408D-95F9-7817E2F92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1929500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4" name="TextBox 28">
            <a:extLst>
              <a:ext uri="{FF2B5EF4-FFF2-40B4-BE49-F238E27FC236}">
                <a16:creationId xmlns:a16="http://schemas.microsoft.com/office/drawing/2014/main" id="{6C21A4FF-D933-846D-F041-F895DB70121D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686E6BE-106A-B7AF-5870-55B597E76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73793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A8F0726-0F0D-D64B-9A64-9D556D10F32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151FA223-528E-9043-A396-8C67F2D036E3}"/>
              </a:ext>
            </a:extLst>
          </p:cNvPr>
          <p:cNvSpPr txBox="1"/>
          <p:nvPr userDrawn="1"/>
        </p:nvSpPr>
        <p:spPr bwMode="gray">
          <a:xfrm>
            <a:off x="647214" y="60251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MOBILITY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AND 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Industry engineering </a:t>
            </a:r>
            <a:r>
              <a:rPr lang="en-US" sz="1200" b="1" kern="1200" cap="all" spc="20" baseline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EXPERTS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11369A4-ED1B-2608-0CA5-C223A52A4217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6">
            <a:extLst>
              <a:ext uri="{FF2B5EF4-FFF2-40B4-BE49-F238E27FC236}">
                <a16:creationId xmlns:a16="http://schemas.microsoft.com/office/drawing/2014/main" id="{F78CA6CF-5CEB-530B-1BC0-188318F4AB5A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2E2FC3F2-3E56-34D8-F430-5DF797D7C57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64322FE6-8395-C9DD-25CA-424F4C612861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9B1EB373-E7A3-8C26-3883-C899D1DCFC7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D9F876D-6547-F15F-2AC9-486F048AF16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2A53B9C-E110-D63F-DB7D-362F57AD62DE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68CA32D-24DD-86ED-8BF4-8D4AB6CEBD9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09DEA9B-C25C-1148-E0C6-6F8FC8BCA1C5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BDB659D9-6166-FDFB-CA6C-9B748ED35E9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30" name="Inhaltsplatzhalter 23">
            <a:extLst>
              <a:ext uri="{FF2B5EF4-FFF2-40B4-BE49-F238E27FC236}">
                <a16:creationId xmlns:a16="http://schemas.microsoft.com/office/drawing/2014/main" id="{30601C53-D2A7-CFB4-6501-D7C3944C83D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DD302D51-294D-CBBD-F87A-BC49B79F67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</p:spTree>
    <p:extLst>
      <p:ext uri="{BB962C8B-B14F-4D97-AF65-F5344CB8AC3E}">
        <p14:creationId xmlns:p14="http://schemas.microsoft.com/office/powerpoint/2010/main" val="47215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6035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8480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783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834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8684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3789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48599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049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079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861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8400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696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71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9663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6005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9315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F677340-F434-EF6B-A47D-0054FB445E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344159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85249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0534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3268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4779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82315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4510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99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186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4110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391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67937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8686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804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6003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20659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02998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orient="horz" pos="1139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3917128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8825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085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795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806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325375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670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5444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7481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7218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07907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982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57974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0E08CC45-E4FE-129B-0722-D353018529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893C50D8-8607-6179-C828-47D1B357F35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81E7056C-7C1F-56E4-3AF6-93CFD35AD0BC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09FA988-6115-3E26-2DFF-212912D73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E0ED016-5A92-D228-41DF-F9095575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3C654B7-83A8-93DE-048D-8CC776945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7859C3F-9CCB-FA36-A519-74506EF1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2" name="Bildplatzhalter 53">
            <a:extLst>
              <a:ext uri="{FF2B5EF4-FFF2-40B4-BE49-F238E27FC236}">
                <a16:creationId xmlns:a16="http://schemas.microsoft.com/office/drawing/2014/main" id="{7B1C8E59-1BEB-C66B-9254-D094AAA33B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3" name="Group 27">
            <a:extLst>
              <a:ext uri="{FF2B5EF4-FFF2-40B4-BE49-F238E27FC236}">
                <a16:creationId xmlns:a16="http://schemas.microsoft.com/office/drawing/2014/main" id="{0CBB7B6F-88A2-C0C7-E78D-0660CFD5F14F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8F1CC403-237F-E749-B15B-6EDB6ED1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A17CC4C-B04A-0D63-8DD5-62593A8DC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F71C62EF-36AF-4FB9-75BC-6AB8861A1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10393F1-E188-54D0-2BC5-ACBAFAB77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CF5C76F-421E-CF26-299F-D10B4CFBD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5D0CC-E028-7CBB-0253-919E9913D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B7CC1566-FEA5-7D0B-28C8-A3AE0032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ED99FA06-5AE6-EDD0-02C4-BE6D3E0D5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92B15B17-EA05-7978-8AF8-4AF5F8936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Oval 25">
              <a:extLst>
                <a:ext uri="{FF2B5EF4-FFF2-40B4-BE49-F238E27FC236}">
                  <a16:creationId xmlns:a16="http://schemas.microsoft.com/office/drawing/2014/main" id="{216CFA38-DEBA-3BD7-0EE3-F98DCF37E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F88B2115-B739-9D8D-184A-6A689DB75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E34BC0DF-F08F-6ADC-B8B9-B4305536B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F6BE8B68-A52B-1ED7-F136-9BE737D85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C7842E61-A553-89A3-C6DF-1AD785118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D9461DDB-B008-B8D3-B371-E7B311AA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50" name="Bildplatzhalter 37">
            <a:extLst>
              <a:ext uri="{FF2B5EF4-FFF2-40B4-BE49-F238E27FC236}">
                <a16:creationId xmlns:a16="http://schemas.microsoft.com/office/drawing/2014/main" id="{D473D17F-BA1B-FF86-9310-89E069B09B9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AFC937F2-D0F3-1AF8-4DFA-0036161B450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52" name="Group 27">
            <a:extLst>
              <a:ext uri="{FF2B5EF4-FFF2-40B4-BE49-F238E27FC236}">
                <a16:creationId xmlns:a16="http://schemas.microsoft.com/office/drawing/2014/main" id="{5512CEC1-DFFB-8EF9-DFA5-78C8857962A8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439F96F0-2842-99B0-AF81-16CEBD65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8C5C0676-BEF3-CE1C-0636-B23EC699FF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6CBDA5DB-4A82-6C7C-45E9-503F09610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5E97A52F-009B-3569-0EEA-E0D1BD566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9700B027-5BFA-3EF6-F899-E9DBD890B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C8DE5A02-CEB4-65B2-62BF-3B6FCA76D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9" name="Rectangle 22">
              <a:extLst>
                <a:ext uri="{FF2B5EF4-FFF2-40B4-BE49-F238E27FC236}">
                  <a16:creationId xmlns:a16="http://schemas.microsoft.com/office/drawing/2014/main" id="{3796B980-C3AA-4B15-933E-7CC58C5C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48F66C8A-FB69-DF75-4716-6086745CB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1EEEF2FF-BAC0-799E-77D8-4D0D088B6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3" name="Oval 25">
              <a:extLst>
                <a:ext uri="{FF2B5EF4-FFF2-40B4-BE49-F238E27FC236}">
                  <a16:creationId xmlns:a16="http://schemas.microsoft.com/office/drawing/2014/main" id="{FF4D658A-AB50-B4C0-8B14-520C9BC0A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35BC9AF6-80CF-F55B-490E-17A175AB1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C32FCB46-2003-C8EB-71EB-FF24C3F6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4772432D-32B1-C35E-D4D0-62819AFDF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F6A1C2AE-D3D8-36F9-3059-7904E7470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4EC3C53-D67E-C1F1-9E6B-A04FB821F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69" name="Bildplatzhalter 52">
            <a:extLst>
              <a:ext uri="{FF2B5EF4-FFF2-40B4-BE49-F238E27FC236}">
                <a16:creationId xmlns:a16="http://schemas.microsoft.com/office/drawing/2014/main" id="{479CB5E1-B6AA-ACD2-21A6-EF4304B509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Bildplatzhalter 7">
            <a:extLst>
              <a:ext uri="{FF2B5EF4-FFF2-40B4-BE49-F238E27FC236}">
                <a16:creationId xmlns:a16="http://schemas.microsoft.com/office/drawing/2014/main" id="{16723ED3-1188-271D-8F38-B53F600AE3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1" name="Group 81">
            <a:extLst>
              <a:ext uri="{FF2B5EF4-FFF2-40B4-BE49-F238E27FC236}">
                <a16:creationId xmlns:a16="http://schemas.microsoft.com/office/drawing/2014/main" id="{C9F53C8E-0648-0171-91CE-C4F28BE4329E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D8B93305-6DE3-8C5F-49AF-B1E6A5C89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73" name="Group 33">
              <a:extLst>
                <a:ext uri="{FF2B5EF4-FFF2-40B4-BE49-F238E27FC236}">
                  <a16:creationId xmlns:a16="http://schemas.microsoft.com/office/drawing/2014/main" id="{8026366C-1FC7-B377-39CD-475C8D0172FF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F0513B95-93A6-7211-7947-96F049D9F5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BF91CBEA-3E90-74A4-84BF-6E9A7AEE5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297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F2BEC4DD-876F-7FD9-707B-4A4BFC4E7C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D2039763-7781-E88B-8480-BD4FE2592E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19B54F6-19AE-A7C5-3B82-FC36B5D1DED5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5F09CA15-B1B9-5805-0F60-4A74F2CC3B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BBCB930-6CE4-CCE1-CB82-F7368180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2E0C4C1-52A2-2B65-561F-B2C8E2147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9C88227-2213-C98C-26F6-18A35721D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8FE1CCE4-2CCB-2909-79D7-C89477104F2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1625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867A4C2-FCB3-BEB2-CFA2-2559247B48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9D878272-C6F4-A2C6-1DE0-C4400DA288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C874A58-A5CA-6F3D-FE49-696F01F3C52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7B5E4907-F1DD-6ECA-3064-2B62D53AEE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52EC50AA-D505-1B2C-E78F-05866510C5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3209D3D-D9DA-3325-750C-18537F7F4FA1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D306598-7BD5-EC02-730C-E7162A0098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E3FBFC6-F9F8-DBEF-AD5D-058CC2FF99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87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A3BCFB82-5A94-7096-C76C-C0DCA3582F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900B74CE-E412-2148-8BB7-A024A4C1BC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17038BE3-6F27-AF6B-366B-0978CF56F6F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AB4244BB-8AA3-5D5A-AD32-9DFC6E9E45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DB6826-C583-99C8-C829-27629BA54A29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1C9815A-B964-7CCE-2103-9BA3B4D19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C99D9E6-BA1B-2FAF-526F-8651CEC75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B17C8A6-3E5C-5F1D-6E26-4A4B29FE73F1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3BE550E-585F-AFA4-E439-130C47136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CC113CE-6BF6-BFE9-718B-6BC578EAA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446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36626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15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38793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023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8519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82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16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18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764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485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168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8436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099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4677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371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657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>
          <p15:clr>
            <a:srgbClr val="FBAE40"/>
          </p15:clr>
        </p15:guide>
        <p15:guide id="3" orient="horz" pos="3997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8419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7705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8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86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18.xml"/><Relationship Id="rId42" Type="http://schemas.openxmlformats.org/officeDocument/2006/relationships/slideLayout" Target="../slideLayouts/slideLayout139.xml"/><Relationship Id="rId47" Type="http://schemas.openxmlformats.org/officeDocument/2006/relationships/slideLayout" Target="../slideLayouts/slideLayout144.xml"/><Relationship Id="rId63" Type="http://schemas.openxmlformats.org/officeDocument/2006/relationships/slideLayout" Target="../slideLayouts/slideLayout160.xml"/><Relationship Id="rId68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4.xml"/><Relationship Id="rId40" Type="http://schemas.openxmlformats.org/officeDocument/2006/relationships/slideLayout" Target="../slideLayouts/slideLayout137.xml"/><Relationship Id="rId45" Type="http://schemas.openxmlformats.org/officeDocument/2006/relationships/slideLayout" Target="../slideLayouts/slideLayout142.xml"/><Relationship Id="rId53" Type="http://schemas.openxmlformats.org/officeDocument/2006/relationships/slideLayout" Target="../slideLayouts/slideLayout150.xml"/><Relationship Id="rId58" Type="http://schemas.openxmlformats.org/officeDocument/2006/relationships/slideLayout" Target="../slideLayouts/slideLayout155.xml"/><Relationship Id="rId66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02.xml"/><Relationship Id="rId61" Type="http://schemas.openxmlformats.org/officeDocument/2006/relationships/slideLayout" Target="../slideLayouts/slideLayout158.xml"/><Relationship Id="rId1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2.xml"/><Relationship Id="rId43" Type="http://schemas.openxmlformats.org/officeDocument/2006/relationships/slideLayout" Target="../slideLayouts/slideLayout140.xml"/><Relationship Id="rId48" Type="http://schemas.openxmlformats.org/officeDocument/2006/relationships/slideLayout" Target="../slideLayouts/slideLayout145.xml"/><Relationship Id="rId56" Type="http://schemas.openxmlformats.org/officeDocument/2006/relationships/slideLayout" Target="../slideLayouts/slideLayout153.xml"/><Relationship Id="rId64" Type="http://schemas.openxmlformats.org/officeDocument/2006/relationships/slideLayout" Target="../slideLayouts/slideLayout161.xml"/><Relationship Id="rId69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05.xml"/><Relationship Id="rId51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slideLayout" Target="../slideLayouts/slideLayout130.xml"/><Relationship Id="rId38" Type="http://schemas.openxmlformats.org/officeDocument/2006/relationships/slideLayout" Target="../slideLayouts/slideLayout135.xml"/><Relationship Id="rId46" Type="http://schemas.openxmlformats.org/officeDocument/2006/relationships/slideLayout" Target="../slideLayouts/slideLayout143.xml"/><Relationship Id="rId59" Type="http://schemas.openxmlformats.org/officeDocument/2006/relationships/slideLayout" Target="../slideLayouts/slideLayout156.xml"/><Relationship Id="rId67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138.xml"/><Relationship Id="rId54" Type="http://schemas.openxmlformats.org/officeDocument/2006/relationships/slideLayout" Target="../slideLayouts/slideLayout151.xml"/><Relationship Id="rId62" Type="http://schemas.openxmlformats.org/officeDocument/2006/relationships/slideLayout" Target="../slideLayouts/slideLayout159.xml"/><Relationship Id="rId70" Type="http://schemas.openxmlformats.org/officeDocument/2006/relationships/theme" Target="../theme/theme4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33.xml"/><Relationship Id="rId49" Type="http://schemas.openxmlformats.org/officeDocument/2006/relationships/slideLayout" Target="../slideLayouts/slideLayout146.xml"/><Relationship Id="rId57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07.xml"/><Relationship Id="rId31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141.xml"/><Relationship Id="rId52" Type="http://schemas.openxmlformats.org/officeDocument/2006/relationships/slideLayout" Target="../slideLayouts/slideLayout149.xml"/><Relationship Id="rId60" Type="http://schemas.openxmlformats.org/officeDocument/2006/relationships/slideLayout" Target="../slideLayouts/slideLayout157.xml"/><Relationship Id="rId65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39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31.xml"/><Relationship Id="rId50" Type="http://schemas.openxmlformats.org/officeDocument/2006/relationships/slideLayout" Target="../slideLayouts/slideLayout147.xml"/><Relationship Id="rId55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50CA26-78D6-C18B-35BF-0F8E10D4F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49E3501A-B8DC-024E-3A99-7F2D55F7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107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6" r:id="rId1"/>
    <p:sldLayoutId id="2147484897" r:id="rId2"/>
    <p:sldLayoutId id="2147484898" r:id="rId3"/>
    <p:sldLayoutId id="2147484899" r:id="rId4"/>
    <p:sldLayoutId id="2147484900" r:id="rId5"/>
    <p:sldLayoutId id="2147484901" r:id="rId6"/>
    <p:sldLayoutId id="2147484902" r:id="rId7"/>
    <p:sldLayoutId id="2147484903" r:id="rId8"/>
    <p:sldLayoutId id="2147484904" r:id="rId9"/>
    <p:sldLayoutId id="2147484905" r:id="rId10"/>
    <p:sldLayoutId id="2147484906" r:id="rId11"/>
    <p:sldLayoutId id="2147484907" r:id="rId12"/>
    <p:sldLayoutId id="2147484908" r:id="rId13"/>
    <p:sldLayoutId id="2147484909" r:id="rId14"/>
    <p:sldLayoutId id="2147484910" r:id="rId15"/>
    <p:sldLayoutId id="214748491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26B43"/>
          </p15:clr>
        </p15:guide>
        <p15:guide id="2" pos="7265">
          <p15:clr>
            <a:srgbClr val="F26B43"/>
          </p15:clr>
        </p15:guide>
        <p15:guide id="3" orient="horz" pos="3997">
          <p15:clr>
            <a:srgbClr val="F26B43"/>
          </p15:clr>
        </p15:guide>
        <p15:guide id="5" orient="horz" pos="34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2025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Template EDAG Group     Author: Group Marketing     Version: 8.0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1589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14" r:id="rId2"/>
    <p:sldLayoutId id="2147484915" r:id="rId3"/>
    <p:sldLayoutId id="2147484916" r:id="rId4"/>
    <p:sldLayoutId id="2147484917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4924" r:id="rId12"/>
    <p:sldLayoutId id="2147484925" r:id="rId13"/>
    <p:sldLayoutId id="2147484926" r:id="rId14"/>
    <p:sldLayoutId id="2147484927" r:id="rId15"/>
    <p:sldLayoutId id="2147484928" r:id="rId16"/>
    <p:sldLayoutId id="2147484929" r:id="rId17"/>
    <p:sldLayoutId id="2147484930" r:id="rId18"/>
    <p:sldLayoutId id="2147484931" r:id="rId19"/>
    <p:sldLayoutId id="2147484932" r:id="rId20"/>
    <p:sldLayoutId id="2147484933" r:id="rId21"/>
    <p:sldLayoutId id="2147484934" r:id="rId22"/>
    <p:sldLayoutId id="2147484935" r:id="rId23"/>
    <p:sldLayoutId id="2147484936" r:id="rId24"/>
    <p:sldLayoutId id="2147484937" r:id="rId25"/>
    <p:sldLayoutId id="2147484938" r:id="rId26"/>
    <p:sldLayoutId id="2147484939" r:id="rId27"/>
    <p:sldLayoutId id="2147484940" r:id="rId28"/>
    <p:sldLayoutId id="2147484941" r:id="rId29"/>
    <p:sldLayoutId id="2147484942" r:id="rId30"/>
    <p:sldLayoutId id="2147484943" r:id="rId31"/>
    <p:sldLayoutId id="2147484944" r:id="rId32"/>
    <p:sldLayoutId id="2147484945" r:id="rId33"/>
    <p:sldLayoutId id="2147484946" r:id="rId34"/>
    <p:sldLayoutId id="2147484947" r:id="rId35"/>
    <p:sldLayoutId id="2147484948" r:id="rId36"/>
    <p:sldLayoutId id="2147484949" r:id="rId37"/>
    <p:sldLayoutId id="2147484950" r:id="rId38"/>
    <p:sldLayoutId id="2147484951" r:id="rId39"/>
    <p:sldLayoutId id="2147484952" r:id="rId40"/>
    <p:sldLayoutId id="2147484953" r:id="rId41"/>
    <p:sldLayoutId id="2147484954" r:id="rId42"/>
    <p:sldLayoutId id="2147484955" r:id="rId43"/>
    <p:sldLayoutId id="2147484956" r:id="rId44"/>
    <p:sldLayoutId id="2147484957" r:id="rId45"/>
    <p:sldLayoutId id="2147484958" r:id="rId46"/>
    <p:sldLayoutId id="2147484959" r:id="rId47"/>
    <p:sldLayoutId id="2147484960" r:id="rId48"/>
    <p:sldLayoutId id="2147484961" r:id="rId49"/>
    <p:sldLayoutId id="2147484962" r:id="rId50"/>
    <p:sldLayoutId id="2147484963" r:id="rId51"/>
    <p:sldLayoutId id="2147484964" r:id="rId52"/>
    <p:sldLayoutId id="2147484965" r:id="rId53"/>
    <p:sldLayoutId id="2147484966" r:id="rId54"/>
    <p:sldLayoutId id="2147484967" r:id="rId55"/>
    <p:sldLayoutId id="2147484968" r:id="rId56"/>
    <p:sldLayoutId id="2147484969" r:id="rId57"/>
    <p:sldLayoutId id="2147484970" r:id="rId58"/>
    <p:sldLayoutId id="2147484971" r:id="rId59"/>
    <p:sldLayoutId id="2147484972" r:id="rId60"/>
    <p:sldLayoutId id="2147484973" r:id="rId61"/>
    <p:sldLayoutId id="2147484974" r:id="rId62"/>
    <p:sldLayoutId id="2147484975" r:id="rId63"/>
    <p:sldLayoutId id="2147484976" r:id="rId64"/>
    <p:sldLayoutId id="2147484977" r:id="rId65"/>
    <p:sldLayoutId id="2147484978" r:id="rId66"/>
    <p:sldLayoutId id="2147484979" r:id="rId67"/>
    <p:sldLayoutId id="2147484980" r:id="rId68"/>
    <p:sldLayoutId id="2147484981" r:id="rId6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26B43"/>
          </p15:clr>
        </p15:guide>
        <p15:guide id="2" pos="7265">
          <p15:clr>
            <a:srgbClr val="F26B43"/>
          </p15:clr>
        </p15:guide>
        <p15:guide id="3" orient="horz" pos="4178">
          <p15:clr>
            <a:srgbClr val="F26B43"/>
          </p15:clr>
        </p15:guide>
        <p15:guide id="5" orient="horz" pos="3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eedag-my.sharepoint.com/:x:/g/personal/atharv_rupde_edag_com/IQApstBT3xmNQq7YyCcOyN31AXP2evZK7HuRH5dY465CWqg?e=w6jPm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horturl.at/RGij9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855C8B-DF38-5ABC-5B8C-CE26DAC9E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060" y="3836742"/>
            <a:ext cx="6631673" cy="23439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EV Battery Management System</a:t>
            </a:r>
            <a:endParaRPr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D00408F8-3336-D633-4F9A-EAD00E43A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332" y="137795"/>
            <a:ext cx="2880000" cy="180000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Mega Project  |  </a:t>
            </a:r>
            <a:r>
              <a:rPr lang="de-DE" err="1">
                <a:solidFill>
                  <a:schemeClr val="tx1"/>
                </a:solidFill>
              </a:rPr>
              <a:t>July</a:t>
            </a:r>
            <a:r>
              <a:rPr lang="de-DE">
                <a:solidFill>
                  <a:schemeClr val="tx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23624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7A0FCF-67E8-7083-EC55-97CF54E56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470F72-BBBE-B355-1E2D-CAA899FBFB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1BA2E4B3-4386-2298-3A04-7F6A86F5F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909670"/>
            <a:ext cx="5013854" cy="4735930"/>
          </a:xfrm>
        </p:spPr>
        <p:txBody>
          <a:bodyPr/>
          <a:lstStyle/>
          <a:p>
            <a:r>
              <a:rPr lang="en-US" b="0"/>
              <a:t>Project Overview</a:t>
            </a:r>
            <a:br>
              <a:rPr lang="en-US" b="0"/>
            </a:br>
            <a:br>
              <a:rPr lang="en-US" b="0"/>
            </a:br>
            <a:r>
              <a:rPr lang="en-US" b="0"/>
              <a:t>Dataset</a:t>
            </a:r>
            <a:br>
              <a:rPr lang="en-US" b="0"/>
            </a:br>
            <a:br>
              <a:rPr lang="en-US" b="0"/>
            </a:br>
            <a:r>
              <a:rPr lang="en-US" b="0"/>
              <a:t>Tech Stack &amp; Python Concepts Used</a:t>
            </a:r>
            <a:br>
              <a:rPr lang="en-US" b="0"/>
            </a:br>
            <a:br>
              <a:rPr lang="en-US" b="0"/>
            </a:br>
            <a:r>
              <a:rPr lang="en-US" b="0"/>
              <a:t>Output / Dashboard</a:t>
            </a:r>
            <a:br>
              <a:rPr lang="en-US" b="0"/>
            </a:br>
            <a:br>
              <a:rPr lang="en-US" b="0"/>
            </a:br>
            <a:r>
              <a:rPr lang="en-US" b="0"/>
              <a:t>Summary</a:t>
            </a:r>
            <a:br>
              <a:rPr lang="en-US" b="0"/>
            </a:br>
            <a:br>
              <a:rPr lang="en-US" b="0"/>
            </a:br>
            <a:r>
              <a:rPr lang="en-US" b="0"/>
              <a:t>Future Scope</a:t>
            </a:r>
          </a:p>
          <a:p>
            <a:endParaRPr lang="de-DE" b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5FBA0F-6A2F-9633-9921-76C5C889D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AA374FA-6818-C146-AB18-CAEF947C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67" y="544613"/>
            <a:ext cx="5518264" cy="252000"/>
          </a:xfrm>
        </p:spPr>
        <p:txBody>
          <a:bodyPr/>
          <a:lstStyle/>
          <a:p>
            <a:r>
              <a:rPr b="1"/>
              <a:t>EV Battery Management System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2B31F0-E3CE-A9C4-8F32-0691A2F622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1195316"/>
            <a:ext cx="5518264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de-DE"/>
              <a:t>Agenda</a:t>
            </a:r>
          </a:p>
        </p:txBody>
      </p:sp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250FC13-73F9-0F85-D87B-51D609D3B562}"/>
              </a:ext>
            </a:extLst>
          </p:cNvPr>
          <p:cNvCxnSpPr>
            <a:cxnSpLocks/>
          </p:cNvCxnSpPr>
          <p:nvPr/>
        </p:nvCxnSpPr>
        <p:spPr>
          <a:xfrm>
            <a:off x="658800" y="2256424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D5259B1D-07B3-F1D2-4438-9A789CA8CFA9}"/>
              </a:ext>
            </a:extLst>
          </p:cNvPr>
          <p:cNvCxnSpPr>
            <a:cxnSpLocks/>
          </p:cNvCxnSpPr>
          <p:nvPr/>
        </p:nvCxnSpPr>
        <p:spPr>
          <a:xfrm>
            <a:off x="658800" y="3281470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9">
            <a:extLst>
              <a:ext uri="{FF2B5EF4-FFF2-40B4-BE49-F238E27FC236}">
                <a16:creationId xmlns:a16="http://schemas.microsoft.com/office/drawing/2014/main" id="{D17117E8-9410-3808-8795-88B2704C6B42}"/>
              </a:ext>
            </a:extLst>
          </p:cNvPr>
          <p:cNvCxnSpPr>
            <a:cxnSpLocks/>
          </p:cNvCxnSpPr>
          <p:nvPr/>
        </p:nvCxnSpPr>
        <p:spPr>
          <a:xfrm>
            <a:off x="658800" y="4197906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9">
            <a:extLst>
              <a:ext uri="{FF2B5EF4-FFF2-40B4-BE49-F238E27FC236}">
                <a16:creationId xmlns:a16="http://schemas.microsoft.com/office/drawing/2014/main" id="{2020047D-EEC4-5569-6A8C-C1F4A84B43BC}"/>
              </a:ext>
            </a:extLst>
          </p:cNvPr>
          <p:cNvCxnSpPr>
            <a:cxnSpLocks/>
          </p:cNvCxnSpPr>
          <p:nvPr/>
        </p:nvCxnSpPr>
        <p:spPr>
          <a:xfrm>
            <a:off x="658800" y="2710275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9A5A8AB5-B3C7-6286-C52D-9B9782A2E6B7}"/>
              </a:ext>
            </a:extLst>
          </p:cNvPr>
          <p:cNvCxnSpPr>
            <a:cxnSpLocks/>
          </p:cNvCxnSpPr>
          <p:nvPr/>
        </p:nvCxnSpPr>
        <p:spPr>
          <a:xfrm>
            <a:off x="658800" y="4656637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19">
            <a:extLst>
              <a:ext uri="{FF2B5EF4-FFF2-40B4-BE49-F238E27FC236}">
                <a16:creationId xmlns:a16="http://schemas.microsoft.com/office/drawing/2014/main" id="{9D30CCF0-89BC-A5CC-8522-1A3676C3C1C0}"/>
              </a:ext>
            </a:extLst>
          </p:cNvPr>
          <p:cNvCxnSpPr>
            <a:cxnSpLocks/>
          </p:cNvCxnSpPr>
          <p:nvPr/>
        </p:nvCxnSpPr>
        <p:spPr>
          <a:xfrm>
            <a:off x="658800" y="3732238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8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1">
            <a:extLst>
              <a:ext uri="{FF2B5EF4-FFF2-40B4-BE49-F238E27FC236}">
                <a16:creationId xmlns:a16="http://schemas.microsoft.com/office/drawing/2014/main" id="{CE341B5C-75EE-AE1E-A386-BBA6FBBBB40E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Footer Placeholder 2">
            <a:extLst>
              <a:ext uri="{FF2B5EF4-FFF2-40B4-BE49-F238E27FC236}">
                <a16:creationId xmlns:a16="http://schemas.microsoft.com/office/drawing/2014/main" id="{20B2DE4D-9C5F-4A83-7145-2E53D6FCFEFD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27D0820F-647F-728B-899E-28EAE3B60277}"/>
              </a:ext>
            </a:extLst>
          </p:cNvPr>
          <p:cNvSpPr txBox="1">
            <a:spLocks/>
          </p:cNvSpPr>
          <p:nvPr/>
        </p:nvSpPr>
        <p:spPr>
          <a:xfrm>
            <a:off x="643016" y="101634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 Project Overview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677A9F24-DA28-BC2A-4908-2DC91E19E0C5}"/>
              </a:ext>
            </a:extLst>
          </p:cNvPr>
          <p:cNvSpPr txBox="1">
            <a:spLocks/>
          </p:cNvSpPr>
          <p:nvPr/>
        </p:nvSpPr>
        <p:spPr>
          <a:xfrm>
            <a:off x="658800" y="1820147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1.1 What is EV Battery Management System ?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Battery Management System (BMS) monitors and manages the rechargeable battery pack in an Electric Vehicle, ensuring safe and efficient operation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Tracks critical parameters like State of Charge (SOC), State of Health (SOH), voltage, current, temperature, speed, and power in real time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Built for real-world use cases such as EV fleet monitoring, battery health analytics, charging optimization, and predictive maintenance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99965F-3A13-4F92-EB19-E060B5FB86DC}"/>
              </a:ext>
            </a:extLst>
          </p:cNvPr>
          <p:cNvSpPr txBox="1"/>
          <p:nvPr/>
        </p:nvSpPr>
        <p:spPr>
          <a:xfrm>
            <a:off x="402316" y="5862238"/>
            <a:ext cx="11387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2622245-85C3-FF4D-A6AF-5F27F46B1438}"/>
              </a:ext>
            </a:extLst>
          </p:cNvPr>
          <p:cNvGrpSpPr/>
          <p:nvPr/>
        </p:nvGrpSpPr>
        <p:grpSpPr>
          <a:xfrm>
            <a:off x="6698641" y="3762333"/>
            <a:ext cx="4726816" cy="2480792"/>
            <a:chOff x="6175225" y="2780898"/>
            <a:chExt cx="4726816" cy="2480792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B2F4689-1F1E-6AD3-EE36-AD9CDE822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5225" y="2780898"/>
              <a:ext cx="4726816" cy="223544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81112E8-D845-466F-C12D-5A2D4EB9051C}"/>
                </a:ext>
              </a:extLst>
            </p:cNvPr>
            <p:cNvSpPr txBox="1"/>
            <p:nvPr/>
          </p:nvSpPr>
          <p:spPr>
            <a:xfrm>
              <a:off x="6959600" y="5077024"/>
              <a:ext cx="331590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BMS Data Analysis Pipeline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576BD608-0509-9100-2956-86B696FB8EEE}"/>
              </a:ext>
            </a:extLst>
          </p:cNvPr>
          <p:cNvSpPr txBox="1"/>
          <p:nvPr/>
        </p:nvSpPr>
        <p:spPr>
          <a:xfrm>
            <a:off x="658800" y="3772059"/>
            <a:ext cx="5597621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1.2 System Architecture &amp; Data Flow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Dataset Generator creates realistic battery telemetry data for vehicle EV001 across a full day (1,729 records at 50-second intervals)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Firebase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Firestore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stores each telemetry record in real time as the trip progresses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Streamlit Dashboard loads the dataset and renders KPI cards, interactive Plotly charts, and mode-specific analytics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Analytics modules (Trip, Speed, Fuel, Engine, Driving Behavior) process the data to generate insights and trigger alerts</a:t>
            </a:r>
            <a:r>
              <a:rPr lang="en-US" sz="1200" kern="0">
                <a:solidFill>
                  <a:schemeClr val="bg1"/>
                </a:solidFill>
              </a:rPr>
              <a:t>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63F7B23-626C-1AE0-4B55-620CE2E78F27}"/>
              </a:ext>
            </a:extLst>
          </p:cNvPr>
          <p:cNvGrpSpPr/>
          <p:nvPr/>
        </p:nvGrpSpPr>
        <p:grpSpPr>
          <a:xfrm>
            <a:off x="8414742" y="1474898"/>
            <a:ext cx="2214033" cy="1798213"/>
            <a:chOff x="2882900" y="3429000"/>
            <a:chExt cx="2417233" cy="2019230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98C075F-94EA-2012-E3B9-64297819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82900" y="3429000"/>
              <a:ext cx="2417233" cy="1612295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F865AE-7C32-C911-7881-206ED80F15EC}"/>
                </a:ext>
              </a:extLst>
            </p:cNvPr>
            <p:cNvSpPr txBox="1"/>
            <p:nvPr/>
          </p:nvSpPr>
          <p:spPr>
            <a:xfrm>
              <a:off x="3762633" y="5240867"/>
              <a:ext cx="913565" cy="2073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EV Battery Pack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874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D01F-8EFF-6325-074D-FC8B0885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1">
            <a:extLst>
              <a:ext uri="{FF2B5EF4-FFF2-40B4-BE49-F238E27FC236}">
                <a16:creationId xmlns:a16="http://schemas.microsoft.com/office/drawing/2014/main" id="{628DB7FC-4981-FC3D-01FF-E275F4AE69F7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Footer Placeholder 2">
            <a:extLst>
              <a:ext uri="{FF2B5EF4-FFF2-40B4-BE49-F238E27FC236}">
                <a16:creationId xmlns:a16="http://schemas.microsoft.com/office/drawing/2014/main" id="{FD6104A4-6FB6-7B8F-AF58-E96F763AAD2C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itle 3">
            <a:extLst>
              <a:ext uri="{FF2B5EF4-FFF2-40B4-BE49-F238E27FC236}">
                <a16:creationId xmlns:a16="http://schemas.microsoft.com/office/drawing/2014/main" id="{9FCD7F59-4F65-3A3C-E3FC-FB9D5A892AC6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Dataset</a:t>
            </a:r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6A0BFBA3-C7E5-E713-B816-3680B77932D6}"/>
              </a:ext>
            </a:extLst>
          </p:cNvPr>
          <p:cNvSpPr txBox="1">
            <a:spLocks/>
          </p:cNvSpPr>
          <p:nvPr/>
        </p:nvSpPr>
        <p:spPr>
          <a:xfrm>
            <a:off x="658800" y="1080414"/>
            <a:ext cx="5911333" cy="31697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2.1 Dataset Description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2C3E0D-A397-D118-86B6-D5469A93E0C9}"/>
              </a:ext>
            </a:extLst>
          </p:cNvPr>
          <p:cNvSpPr txBox="1"/>
          <p:nvPr/>
        </p:nvSpPr>
        <p:spPr>
          <a:xfrm>
            <a:off x="1034219" y="1745714"/>
            <a:ext cx="7711847" cy="25853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Realistic dataset generated by a custom Python script (generate_dataset.py) — saved as Excel (.xlsx) file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Each record captures: Timestamp,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Vehicle_ID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, Mode, SOC, SOH, Voltage, Current, Temperature, Speed, Power,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Charging_Status</a:t>
            </a:r>
            <a:endParaRPr lang="en-US" sz="1200" b="0" i="0" u="none" strike="noStrike" kern="0" cap="none" spc="0" normalizeH="0" baseline="0" noProof="0" dirty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Arial"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Dataset covers one full day (21 July 2026) with 1,729 rows at 50-second intervals for vehicle EV001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Three operating modes simulated: Driving (SOC decreases, speed &gt; 0), Charging (SOC increases, current negative), Parking (SOC stable, speed = 0)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 is streamed to Firebase Fire store under vehicles/{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vehicle_id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}/telemetry, refreshing every 10 seconds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lvl="1" indent="-171450">
              <a:buFont typeface="Wingdings" panose="05000000000000000000" pitchFamily="2" charset="2"/>
              <a:buChar char="q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Data </a:t>
            </a:r>
            <a:r>
              <a:rPr lang="en-US" sz="1200" kern="0">
                <a:solidFill>
                  <a:schemeClr val="bg1"/>
                </a:solidFill>
              </a:rPr>
              <a:t>Set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:-</a:t>
            </a:r>
            <a:r>
              <a:rPr lang="en-US" sz="1200" kern="0" dirty="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sample_bms_data.xlsx</a:t>
            </a:r>
            <a:endParaRPr lang="en-US" sz="1200" kern="0">
              <a:solidFill>
                <a:schemeClr val="bg1"/>
              </a:solidFill>
              <a:ea typeface="+mn-lt"/>
              <a:cs typeface="+mn-lt"/>
            </a:endParaRPr>
          </a:p>
          <a:p>
            <a:pPr marL="628650" lvl="1" indent="-171450">
              <a:buFont typeface="Wingdings" panose="05000000000000000000" pitchFamily="2" charset="2"/>
              <a:buChar char="q"/>
              <a:defRPr/>
            </a:pPr>
            <a:r>
              <a:rPr lang="en-US" sz="1200" kern="0">
                <a:solidFill>
                  <a:schemeClr val="bg1"/>
                </a:solidFill>
                <a:ea typeface="+mn-lt"/>
                <a:cs typeface="+mn-lt"/>
              </a:rPr>
              <a:t>Git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Link :-</a:t>
            </a:r>
            <a:r>
              <a:rPr lang="en-US" sz="1200" kern="0" dirty="0">
                <a:solidFill>
                  <a:schemeClr val="bg1"/>
                </a:solidFill>
                <a:ea typeface="+mn-lt"/>
                <a:cs typeface="+mn-lt"/>
                <a:hlinkClick r:id="rId4"/>
              </a:rPr>
              <a:t>https://shorturl.at/RGij9</a:t>
            </a:r>
            <a:endParaRPr lang="en-US" sz="1200" kern="0">
              <a:solidFill>
                <a:schemeClr val="bg1"/>
              </a:solidFill>
              <a:cs typeface="Arial"/>
            </a:endParaRPr>
          </a:p>
          <a:p>
            <a:endParaRPr lang="en-US" sz="1200" b="0" i="0" u="none" strike="noStrike" kern="0" cap="none" spc="0" normalizeH="0" baseline="0" noProof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148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229B075-8984-399F-9A0D-F8F0D2671FE9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19B69E71-CFA9-A5A0-E636-18A19BF9EE97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5BBF384-82DD-EF12-8DDB-9DD9EF654EDE}"/>
              </a:ext>
            </a:extLst>
          </p:cNvPr>
          <p:cNvSpPr txBox="1">
            <a:spLocks/>
          </p:cNvSpPr>
          <p:nvPr/>
        </p:nvSpPr>
        <p:spPr>
          <a:xfrm>
            <a:off x="582597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Tech Stack &amp; Python Concepts Used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A1CE5E-3B73-9E6D-B564-5AE911759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986881"/>
              </p:ext>
            </p:extLst>
          </p:nvPr>
        </p:nvGraphicFramePr>
        <p:xfrm>
          <a:off x="838201" y="1407386"/>
          <a:ext cx="6244460" cy="4394705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D8CFC9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D8CFC9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D8CFC9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1722339">
                  <a:extLst>
                    <a:ext uri="{9D8B030D-6E8A-4147-A177-3AD203B41FA5}">
                      <a16:colId xmlns:a16="http://schemas.microsoft.com/office/drawing/2014/main" val="1351317558"/>
                    </a:ext>
                  </a:extLst>
                </a:gridCol>
                <a:gridCol w="4522121">
                  <a:extLst>
                    <a:ext uri="{9D8B030D-6E8A-4147-A177-3AD203B41FA5}">
                      <a16:colId xmlns:a16="http://schemas.microsoft.com/office/drawing/2014/main" val="4045887786"/>
                    </a:ext>
                  </a:extLst>
                </a:gridCol>
              </a:tblGrid>
              <a:tr h="369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Technology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21435"/>
                  </a:ext>
                </a:extLst>
              </a:tr>
              <a:tr h="645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Core language for data generation, analysis, and dashboard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25631"/>
                  </a:ext>
                </a:extLst>
              </a:tr>
              <a:tr h="645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Streamlit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Builds the interactive web dashboard with sidebar and KPI cards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81829"/>
                  </a:ext>
                </a:extLst>
              </a:tr>
              <a:tr h="4268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OpenPyXL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Reads and writes Excel .xlsx files from Python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767661"/>
                  </a:ext>
                </a:extLst>
              </a:tr>
              <a:tr h="645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Pandas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Data loading, filtering, aggregation (mean, min, max)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623510"/>
                  </a:ext>
                </a:extLst>
              </a:tr>
              <a:tr h="645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Plotly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 Express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Creates interactive line charts, pie charts with dark theme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144608"/>
                  </a:ext>
                </a:extLst>
              </a:tr>
              <a:tr h="6457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NumPy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Random data generation and mathematical operations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016507"/>
                  </a:ext>
                </a:extLst>
              </a:tr>
              <a:tr h="3694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ReportLab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Embeds the NumPy map inside the dashboard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L>
                    <a:lnR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rgbClr val="D8CFC9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80396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CCABC1-04D0-091E-CCFA-B41C1C115390}"/>
              </a:ext>
            </a:extLst>
          </p:cNvPr>
          <p:cNvSpPr txBox="1"/>
          <p:nvPr/>
        </p:nvSpPr>
        <p:spPr>
          <a:xfrm>
            <a:off x="6934197" y="1524000"/>
            <a:ext cx="4826000" cy="4278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Object-Oriented Programming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dedicated classes for the Telemetry Generator, OpenPyXL Service/Reader, and every Analysis/Dashboard module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Modular Package Design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code organized into simulator, firebase, analytics, dashboard, and services packages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Streamlit Caching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@st.cache_data decorator caches Excel file reads for instant dashboard reruns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Random Module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random.uniform() and random.randint() generate realistic telemetry values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Math Module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Haversine formula (radians, sin, cos, atan2) calculates GPS distance between coordinates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Pandas Operations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Data Frame sorting, iloc, mean/max/min aggregation, and column renaming</a:t>
            </a:r>
          </a:p>
          <a:p>
            <a:pPr marL="6286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REST API Integration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— the  library fetches live road routes from OSRM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3527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5CBB1E20-6B9F-EB14-A447-0F0A87105D52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7B86446-C91E-7813-B406-5D4779015AC7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BE43C63A-E3DA-0806-0C52-4AF681693B3A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346C3F9-D630-8D2F-77A4-94A672C80EE8}"/>
              </a:ext>
            </a:extLst>
          </p:cNvPr>
          <p:cNvSpPr txBox="1">
            <a:spLocks/>
          </p:cNvSpPr>
          <p:nvPr/>
        </p:nvSpPr>
        <p:spPr>
          <a:xfrm>
            <a:off x="751133" y="1199120"/>
            <a:ext cx="10093868" cy="17086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4.1 Dashboard Overview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800" i="0" u="none" strike="noStrike" kern="1200" cap="all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Information panel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Vehicle ID, Manufacturer, Model, Registration Number, Driver Name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Live KPI cards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Current Speed, Fuel Level, Engine Temperature, Distance Travelled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Trip Summary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Average &amp; Maximum Speed, Fuel Consumed, Trip Duration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Driving Behavior Summary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Normal / Harsh Acceleration / Harsh Braking / Overspeed counts with a donut chart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Alerts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Overspeed and high engine temperature warnings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Emergency SOS button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— simulated emergency alert trigger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C587DFF-870B-B904-4AFC-20CBE6A8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33" y="3332869"/>
            <a:ext cx="5477934" cy="2912533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CCC6FE-5CC6-6EFC-F37C-7AACCF76EA5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267" y="3332869"/>
            <a:ext cx="5888600" cy="2889607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2106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1">
            <a:extLst>
              <a:ext uri="{FF2B5EF4-FFF2-40B4-BE49-F238E27FC236}">
                <a16:creationId xmlns:a16="http://schemas.microsoft.com/office/drawing/2014/main" id="{28A713D4-0F0E-CDB5-C535-87CFC0FE5DD3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15E7B4FF-27D9-BDD8-8EE8-E006DC4BEDC4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71A66B1B-A72D-9AFD-B9D8-676D8949EE07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/ Dashboard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C190961-11B5-CF36-4C12-5DB6824E6884}"/>
              </a:ext>
            </a:extLst>
          </p:cNvPr>
          <p:cNvSpPr txBox="1">
            <a:spLocks/>
          </p:cNvSpPr>
          <p:nvPr/>
        </p:nvSpPr>
        <p:spPr>
          <a:xfrm>
            <a:off x="658800" y="1177448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4.2 Driving &amp; Charging Mode Views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Driving mode shows SOC depletion, vehicle speed patterns, power consumption, and temperature rise during trips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Charging mode shows SOC recovery, voltage increase, charging current flow, and thermal behaviour during sessions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CD8DBC-5482-D0F7-D1A5-43EAB509E2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5" y="2269066"/>
            <a:ext cx="5455925" cy="3959013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167A94C-DAFE-6CB1-030A-4EBA72AE4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2270751"/>
            <a:ext cx="5314727" cy="3957327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29114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2F3D3935-63F9-D32E-AC62-702979B2A7B5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C3B75D0-3E0F-1226-A75B-B7EF7F1AE1E4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E33B7BC0-9AE1-4CAB-333C-25DD4791E962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Output Report / Dashboard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F00F8F3-B5D5-C937-5486-FF2D57B8968D}"/>
              </a:ext>
            </a:extLst>
          </p:cNvPr>
          <p:cNvSpPr txBox="1">
            <a:spLocks/>
          </p:cNvSpPr>
          <p:nvPr/>
        </p:nvSpPr>
        <p:spPr>
          <a:xfrm>
            <a:off x="658800" y="1062154"/>
            <a:ext cx="58182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4.3 Parking Mode &amp; PDF Report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Telemetry data table, driving-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behaviour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tags, vehicle alerts, and the Emergency SOS panel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E28AA5-4324-678A-ED26-D46167D879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59" y="1959147"/>
            <a:ext cx="5577841" cy="3951745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733688-4C13-EB99-9C95-E2F6F4380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20" y="1970781"/>
            <a:ext cx="5420360" cy="3951746"/>
          </a:xfrm>
          <a:prstGeom prst="rect">
            <a:avLst/>
          </a:prstGeom>
          <a:ln>
            <a:solidFill>
              <a:srgbClr val="D8CFC9">
                <a:lumMod val="1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69856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E469B3C9-5AD6-467C-E8A5-BE8DE2E41E4F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6AA91EF-A153-9A14-048D-1A85B3907171}"/>
              </a:ext>
            </a:extLst>
          </p:cNvPr>
          <p:cNvSpPr txBox="1">
            <a:spLocks/>
          </p:cNvSpPr>
          <p:nvPr/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BF0896DB-5085-A245-E96C-5B0532EA137B}"/>
              </a:ext>
            </a:extLst>
          </p:cNvPr>
          <p:cNvSpPr txBox="1">
            <a:spLocks/>
          </p:cNvSpPr>
          <p:nvPr/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Summary &amp; Future scope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5D683A5-DA21-C5AD-77C4-EE7BB95966A8}"/>
              </a:ext>
            </a:extLst>
          </p:cNvPr>
          <p:cNvSpPr txBox="1">
            <a:spLocks/>
          </p:cNvSpPr>
          <p:nvPr/>
        </p:nvSpPr>
        <p:spPr>
          <a:xfrm>
            <a:off x="895867" y="1611919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5.1 Project Summary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Built a complete EV BMS analytics platform — Dataset Generation → Excel Storage → Dashboard Analytics → PDF Reporting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Demonstrates practical integration of data analysis, interactive visualization, and automated report generation using Python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Provides actionable insights into battery health, charging patterns, SOC trends, and thermal behaviour across operating modes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Applicable to EV fleet management, battery warranty analytics, charging infrastructure planning, and predictive maintenance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0D5A5-1B97-44E5-5C9A-7363191F26D3}"/>
              </a:ext>
            </a:extLst>
          </p:cNvPr>
          <p:cNvSpPr txBox="1"/>
          <p:nvPr/>
        </p:nvSpPr>
        <p:spPr>
          <a:xfrm>
            <a:off x="794267" y="3801533"/>
            <a:ext cx="6096000" cy="1966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5.2 FUTURE SCOPE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Integrate real OBD-II / CAN bus data for live battery monitoring</a:t>
            </a: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Add ML-based SOH prediction and battery degradation forecasting</a:t>
            </a: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Build a multi-vehicle fleet dashboard for organization-wide EV monitoring</a:t>
            </a: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Enable cell-level balancing and individual cell thermal analysis</a:t>
            </a: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Deploy to Streamlit Cloud / AWS for remote access and team collaboration</a:t>
            </a:r>
          </a:p>
          <a:p>
            <a:pPr marL="628650" marR="0" lvl="1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Develop anomaly detection for fault prediction and automated safety alerts</a:t>
            </a:r>
          </a:p>
        </p:txBody>
      </p:sp>
    </p:spTree>
    <p:extLst>
      <p:ext uri="{BB962C8B-B14F-4D97-AF65-F5344CB8AC3E}">
        <p14:creationId xmlns:p14="http://schemas.microsoft.com/office/powerpoint/2010/main" val="387126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681E6588-EDCD-21A1-C1A8-063E65EF0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7" y="2324629"/>
            <a:ext cx="10885465" cy="1338371"/>
          </a:xfrm>
        </p:spPr>
        <p:txBody>
          <a:bodyPr/>
          <a:lstStyle/>
          <a:p>
            <a:pPr algn="ctr"/>
            <a:r>
              <a:rPr lang="de-DE"/>
              <a:t>THANK YOU</a:t>
            </a:r>
          </a:p>
        </p:txBody>
      </p:sp>
      <p:sp>
        <p:nvSpPr>
          <p:cNvPr id="8" name="Foliennummernplatzhalter 2">
            <a:extLst>
              <a:ext uri="{FF2B5EF4-FFF2-40B4-BE49-F238E27FC236}">
                <a16:creationId xmlns:a16="http://schemas.microsoft.com/office/drawing/2014/main" id="{AD6E6B8C-EF40-F8D9-4ACB-6E736674C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CDE3C550-84F7-097B-7DF8-4771BBCA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0" y="6537600"/>
            <a:ext cx="7560000" cy="10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 Battery Management System Dashboard  |  Group Project Presentation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1057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3.xml><?xml version="1.0" encoding="utf-8"?>
<a:theme xmlns:a="http://schemas.openxmlformats.org/drawingml/2006/main" name="EDAG title slides 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529E1F04-00A8-4CD7-9F6F-507C8C9F28E7}" vid="{18F8B035-D583-4DD1-B4E9-D772F0A9F511}"/>
    </a:ext>
  </a:extLst>
</a:theme>
</file>

<file path=ppt/theme/theme4.xml><?xml version="1.0" encoding="utf-8"?>
<a:theme xmlns:a="http://schemas.openxmlformats.org/drawingml/2006/main" name="EDAG DARK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529E1F04-00A8-4CD7-9F6F-507C8C9F28E7}" vid="{1182997E-998D-4966-8000-7429D8D8AC61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3C257-1004-4FF2-B048-6CA79940C365}">
  <ds:schemaRefs>
    <ds:schemaRef ds:uri="e1acf788-9cd5-416f-9fb2-a86e557f81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5A5B29-DDA4-491B-A9C6-06721FE8A2E6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Application>Microsoft Office PowerPoint</Application>
  <PresentationFormat>Widescreen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EDAG DARK Mode GRAY CORNER</vt:lpstr>
      <vt:lpstr>EDAG LIGHT Mode WITHOUT CORNER</vt:lpstr>
      <vt:lpstr>EDAG title slides </vt:lpstr>
      <vt:lpstr>EDAG DARK Mode WITHOUT CORNER</vt:lpstr>
      <vt:lpstr>EV Battery Management System</vt:lpstr>
      <vt:lpstr>EV Battery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revision>20</cp:revision>
  <dcterms:created xsi:type="dcterms:W3CDTF">2026-04-08T13:27:13Z</dcterms:created>
  <dcterms:modified xsi:type="dcterms:W3CDTF">2026-07-22T08:33:01Z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