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  <p:sldMasterId id="2147484762" r:id="rId5"/>
  </p:sldMasterIdLst>
  <p:notesMasterIdLst>
    <p:notesMasterId r:id="rId15"/>
  </p:notesMasterIdLst>
  <p:handoutMasterIdLst>
    <p:handoutMasterId r:id="rId16"/>
  </p:handoutMasterIdLst>
  <p:sldIdLst>
    <p:sldId id="328" r:id="rId6"/>
    <p:sldId id="364" r:id="rId7"/>
    <p:sldId id="386" r:id="rId8"/>
    <p:sldId id="388" r:id="rId9"/>
    <p:sldId id="387" r:id="rId10"/>
    <p:sldId id="365" r:id="rId11"/>
    <p:sldId id="389" r:id="rId12"/>
    <p:sldId id="390" r:id="rId13"/>
    <p:sldId id="287" r:id="rId14"/>
  </p:sldIdLst>
  <p:sldSz cx="12192000" cy="6858000"/>
  <p:notesSz cx="6858000" cy="9144000"/>
  <p:defaultTextStyle>
    <a:defPPr>
      <a:defRPr sz="1800" kern="1200">
        <a:solidFill>
          <a:schemeClr val="tx1"/>
        </a:solidFill>
        <a:latin typeface="+mn-lt"/>
        <a:ea typeface="+mn-ea"/>
        <a:cs typeface="+mn-c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05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95A70C-EE3B-D8A3-6E64-EC75E0DC907E}" name="Wilhelm, Felicitas" initials="FW" userId="S::felicitas.wilhelm@edag.com::3c17e333-495e-451a-8dfb-45c2ccbb39b6" providerId="AD"/>
  <p188:author id="{120D9611-4291-2F2A-5E80-C2DE04E304BA}" name="Branner, Benjamin" initials="BB" userId="S::benjamin.branner@edag.com::1ac27f44-f7d7-4630-b56a-f2fb649383f7" providerId="AD"/>
  <p188:author id="{E9D36D1B-0672-5526-AA4D-DEDB8AE93425}" name="Schmelz, Till" initials="ST" userId="S::till.schmelz@edag.com::487e5f64-0366-48b4-8610-77a9f05d4275" providerId="AD"/>
  <p188:author id="{61AFA331-D17E-F34C-414F-F8604A88C23C}" name="Spannagel, Dominique" initials="SD" userId="S::dominique.spannagel@edag.com::9dbcbf7d-b4d6-461c-8821-c66d6ea45a2d" providerId="AD"/>
  <p188:author id="{50488054-35E6-B7B8-F1AA-EE81F131C942}" name="Lehmann, Sophia" initials="SL" userId="S::sophia.lehmann@edag.com::19e17c5f-d763-4355-8fff-f84a647b12b9" providerId="AD"/>
  <p188:author id="{6FDD3EA7-1E33-FAE9-9B05-48985D7CBC7F}" name="Schuster, Felix" initials="FS" userId="S::felix.schuster@edag.com::72d6796b-04d6-4fdb-b01a-656745a3fae5" providerId="AD"/>
  <p188:author id="{3E955FA7-262E-3538-E9D9-8E34C2E1FE61}" name="Sharma, Sumeet" initials="SS" userId="S::sumeet.sharma@edag.com::c624ab3b-560b-4ec9-ba5e-3f3e40f08e25" providerId="AD"/>
  <p188:author id="{3B8F2AA8-911B-A38F-4ADD-7B62D948C5D7}" name="Wilhelm, Felicitas Anna" initials="WFA" userId="S::felicitas.anna.wilhelm@edag.com::3c17e333-495e-451a-8dfb-45c2ccbb39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3FEE"/>
    <a:srgbClr val="A1D3C2"/>
    <a:srgbClr val="64966C"/>
    <a:srgbClr val="2F3941"/>
    <a:srgbClr val="772D5D"/>
    <a:srgbClr val="4BACB9"/>
    <a:srgbClr val="E9B73B"/>
    <a:srgbClr val="F4F5F6"/>
    <a:srgbClr val="455561"/>
    <a:srgbClr val="232A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996B689-AEB2-8ACA-20EF-B41EFBDDB3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5408A9-8CC6-5F69-BB65-9BBF707DCC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5735-F04D-46D4-A4FE-64467FF07D85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9A41D8-1DDB-D19F-6809-984287F984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E5B391-C3B5-9CAF-AEC1-F18DB5708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EBD72-5CB5-4B83-BC5A-8266D6B179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9498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55133-E598-4852-B811-C43CF3E6FB2C}" type="datetimeFigureOut">
              <a:rPr lang="de-DE" smtClean="0"/>
              <a:t>30.07.2026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75DD-835E-4F76-96AD-CE8B411EA3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069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EDAG Electrics/Electronics     Author:</a:t>
            </a:r>
            <a:r>
              <a:rPr lang="de-DE" dirty="0">
                <a:solidFill>
                  <a:srgbClr val="E4E5E6"/>
                </a:solidFill>
              </a:rPr>
              <a:t> I&amp;V Team      </a:t>
            </a:r>
            <a:r>
              <a:rPr lang="en-US" dirty="0"/>
              <a:t>Version: 1.0                                                 Scope: EDAG Group     internal</a:t>
            </a:r>
            <a:endParaRPr lang="de-DE" dirty="0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56828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   V</a:t>
            </a:r>
            <a:r>
              <a:rPr lang="en-US" err="1"/>
              <a:t>ersion</a:t>
            </a:r>
            <a:r>
              <a:rPr lang="en-US"/>
              <a:t>: 1.0    	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697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8300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8762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9037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2330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733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333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820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3742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4845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21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2632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2506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1277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195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752B3D55-DF1E-F97F-0495-FC4A82618A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345238"/>
          </a:xfrm>
          <a:custGeom>
            <a:avLst/>
            <a:gdLst>
              <a:gd name="connsiteX0" fmla="*/ 0 w 12192000"/>
              <a:gd name="connsiteY0" fmla="*/ 0 h 6345238"/>
              <a:gd name="connsiteX1" fmla="*/ 11134439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36146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345238">
                <a:moveTo>
                  <a:pt x="0" y="0"/>
                </a:moveTo>
                <a:lnTo>
                  <a:pt x="5336146" y="0"/>
                </a:lnTo>
                <a:lnTo>
                  <a:pt x="12192000" y="1452848"/>
                </a:lnTo>
                <a:lnTo>
                  <a:pt x="12192000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 anchor="ctr" anchorCtr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17714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1565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858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2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82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07953E8C-C434-5253-1E00-1F2250051B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18" name="Grafik 13">
            <a:extLst>
              <a:ext uri="{FF2B5EF4-FFF2-40B4-BE49-F238E27FC236}">
                <a16:creationId xmlns:a16="http://schemas.microsoft.com/office/drawing/2014/main" id="{92301565-0282-331A-F7FC-A636A38FDA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9" name="Grafik 13">
              <a:extLst>
                <a:ext uri="{FF2B5EF4-FFF2-40B4-BE49-F238E27FC236}">
                  <a16:creationId xmlns:a16="http://schemas.microsoft.com/office/drawing/2014/main" id="{E3B4A805-8914-4DCF-9B56-0A8DE5412308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3F11C033-6005-2295-78B1-7855D31A1BA1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59BD4F8D-CD29-7C3B-C10F-A2C521163AC4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D4B98960-FE72-FDCD-6930-B309F5343D54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56720191-8858-9EAD-35BA-1AD0A4E9098D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2DFC161-78EF-378D-071A-3E27AC21AEC9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8851229-8480-CCEE-86DE-6CD2857C777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FD93FE03-F917-1D49-589F-1C11FB9BF8CD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A2D4D78B-A5D1-D878-1AF3-A00FA5B0694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6427754E-284B-85B2-BF25-8D7D630A6B3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9DD579D0-D1C7-EB7B-9819-3BA1C29A9FE7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742B250C-543A-8405-E469-967024438E4B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014C4952-2E1B-CE2E-46B9-ED49A32A2CA2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929EB7A-2F3B-0C2F-F177-C3180D4DB6A1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1A5D1FD5-EE57-2756-622A-18733DFEE24D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96093F97-9490-72E2-B648-91DDB5351324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AAF2F95F-DE04-1C32-032E-AE90B93871F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E23E8B1E-38DC-31AF-CBD9-C26CA55F552F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3BB9B1D6-A79E-260C-82B0-94EB7FE993CD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8F4B886-7A78-D26C-2087-ED24E8782DD9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34181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91067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464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328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283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1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195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Contents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Customer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24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pic>
        <p:nvPicPr>
          <p:cNvPr id="4" name="Grafik 2">
            <a:extLst>
              <a:ext uri="{FF2B5EF4-FFF2-40B4-BE49-F238E27FC236}">
                <a16:creationId xmlns:a16="http://schemas.microsoft.com/office/drawing/2014/main" id="{F8E3422C-BD1E-47FE-811B-7DF687B8136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afik 13">
            <a:extLst>
              <a:ext uri="{FF2B5EF4-FFF2-40B4-BE49-F238E27FC236}">
                <a16:creationId xmlns:a16="http://schemas.microsoft.com/office/drawing/2014/main" id="{1292AE95-5A8D-0ED2-BAD1-1BFC7D5D7C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7" name="Grafik 13">
              <a:extLst>
                <a:ext uri="{FF2B5EF4-FFF2-40B4-BE49-F238E27FC236}">
                  <a16:creationId xmlns:a16="http://schemas.microsoft.com/office/drawing/2014/main" id="{7E6792FF-7533-B152-8D62-5C21A99030BC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5D3D46D6-7BA3-D322-4448-C1FAEC789E1F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8658AE10-D544-E061-AA64-A38BF01A52D8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4342F04A-427D-14AC-BC7A-27F3DA815FD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130CD3D8-E6A4-BAC4-FEDD-8B05418CFB8F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1BED91A3-4E18-7114-D909-820A838B9FF5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26E0A0E8-F366-66BE-5B95-ED7D5B1E650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87087C71-BEF0-C154-3D03-D4123741B100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0C0E3641-91AE-3706-1044-A1122B708C99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BDA8FC87-59C4-650B-5FFB-BD2EE6F24FE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826B5FF8-7586-D8C2-B76D-F209B1F502B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2C0DA13A-B441-BB64-5824-FAB5947F923F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5D68299-8DD6-9AB8-014E-FF79AA994DFF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949D9ADA-7FF6-BFC9-62FA-78CB88BD7503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76AA6863-060B-94D1-3C66-20A84B7FA8D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C9EF850E-BE6F-7B53-579D-044706DB091C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97C0E186-E26C-C8B0-4D87-31A1A8E5A833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E3E3E733-834E-C1DE-E9DF-9BB272A80CC8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DE46D9C6-1962-781B-B6F4-74415D5A9E29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E09D6A-8646-2DD9-AE1E-1FB92113B09A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143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6570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63461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4017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02148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817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37221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3669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281234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2245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2015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423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4367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723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2838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9517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92EC007-5E15-AEDB-5017-B090C77ED1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6">
            <a:extLst>
              <a:ext uri="{FF2B5EF4-FFF2-40B4-BE49-F238E27FC236}">
                <a16:creationId xmlns:a16="http://schemas.microsoft.com/office/drawing/2014/main" id="{6C613CE8-37D3-A363-0BDC-E7D089FFFB2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0" name="Group 22">
            <a:extLst>
              <a:ext uri="{FF2B5EF4-FFF2-40B4-BE49-F238E27FC236}">
                <a16:creationId xmlns:a16="http://schemas.microsoft.com/office/drawing/2014/main" id="{B13FDC59-CAC1-35C5-1668-F8AD7E79843E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D6B8E231-7472-23E1-1A62-328766A11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D97B8499-4440-721F-30A6-FD2AB0E45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2538707A-D95E-5F72-948E-9B31942B8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60F543DF-D4FB-EE1F-3D3C-443C066CB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43" name="Bildplatzhalter 53">
            <a:extLst>
              <a:ext uri="{FF2B5EF4-FFF2-40B4-BE49-F238E27FC236}">
                <a16:creationId xmlns:a16="http://schemas.microsoft.com/office/drawing/2014/main" id="{FC346D2D-ACE6-6313-2B0A-5586B29C16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grpSp>
        <p:nvGrpSpPr>
          <p:cNvPr id="44" name="Group 27">
            <a:extLst>
              <a:ext uri="{FF2B5EF4-FFF2-40B4-BE49-F238E27FC236}">
                <a16:creationId xmlns:a16="http://schemas.microsoft.com/office/drawing/2014/main" id="{47026502-DF30-9808-BFA3-323D5FC6EDF4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AEC3185A-4895-622F-C566-ADE2AB2ED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086BEFD2-FD4C-4040-4202-941EDA53C4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15D6470A-C099-4E33-B9CE-0A61EBFA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1495F8DF-DCD5-E4CC-91F6-E83070005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F01852E3-14D1-646D-E53E-255754BC0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A7D9F17C-6AB3-4A02-0709-989DA0EE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E09212EC-5A00-63BF-B1C0-BFAF1DE2E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122D7EE1-92CA-EBA8-38FC-4AE4F19D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7D2A0F34-E653-59B3-16A2-261848B27A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3CB44780-2078-D6B1-E48E-7C54AD0A1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A3DAAA32-76B2-1C98-3781-0D2FC824C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95CA3718-7F2B-CDDD-2A9C-717F0507A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84EE0685-B581-C94D-608A-58D866F3F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16709050-CD05-9428-FD63-F29E6000D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0D56973C-987D-FEB3-4C32-C3DE5DF6D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1" name="Bildplatzhalter 37">
            <a:extLst>
              <a:ext uri="{FF2B5EF4-FFF2-40B4-BE49-F238E27FC236}">
                <a16:creationId xmlns:a16="http://schemas.microsoft.com/office/drawing/2014/main" id="{5DB36E10-0B18-98AE-4315-78BDED8894A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28B13D21-6B76-712D-579C-747AFB9E670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63" name="Group 27">
            <a:extLst>
              <a:ext uri="{FF2B5EF4-FFF2-40B4-BE49-F238E27FC236}">
                <a16:creationId xmlns:a16="http://schemas.microsoft.com/office/drawing/2014/main" id="{493FED0C-F8A8-9E5C-7B0F-0CF4BACAF300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D41CE1ED-C9F2-985C-A028-DDF6F2CA5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A9818088-90EB-7AD9-AC53-B10B75F91B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35240A0D-E512-2930-599E-A966B2989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1BFF8965-8617-414E-6A53-C7626A3F29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A5446287-0F7F-4D02-A10D-F6278D42D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9" name="Rectangle 21">
              <a:extLst>
                <a:ext uri="{FF2B5EF4-FFF2-40B4-BE49-F238E27FC236}">
                  <a16:creationId xmlns:a16="http://schemas.microsoft.com/office/drawing/2014/main" id="{1CF240C1-A111-0B8B-AE78-6A1894F5C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0" name="Rectangle 22">
              <a:extLst>
                <a:ext uri="{FF2B5EF4-FFF2-40B4-BE49-F238E27FC236}">
                  <a16:creationId xmlns:a16="http://schemas.microsoft.com/office/drawing/2014/main" id="{CBA3EAA8-5845-FE4E-BB47-4B39B3FF5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BBB7EB3D-F0EC-1787-6EA0-BBF43845E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6C6B97B2-1BE0-9AD4-0122-FA91BB9B28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226963A1-99FD-75EF-018D-27DD0175A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549A3272-4896-D269-7D50-87D7D59F8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D6E9BA95-A2E2-0C58-F2A2-1E95CC624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AAD79E57-6F2C-7EBA-A91E-10B14BC37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050F41F3-2898-7D65-085C-EC0B63EEE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A22E6347-E5E9-6C12-36AE-27F9ED849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79" name="Bildplatzhalter 52">
            <a:extLst>
              <a:ext uri="{FF2B5EF4-FFF2-40B4-BE49-F238E27FC236}">
                <a16:creationId xmlns:a16="http://schemas.microsoft.com/office/drawing/2014/main" id="{F69CE8FA-7BF7-33BD-6AEB-2002256BC9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0" name="Bildplatzhalter 7">
            <a:extLst>
              <a:ext uri="{FF2B5EF4-FFF2-40B4-BE49-F238E27FC236}">
                <a16:creationId xmlns:a16="http://schemas.microsoft.com/office/drawing/2014/main" id="{88AB9D3B-052E-CE20-E779-AA962A56261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B3563498-181F-F3FC-D65E-A0F4D93C7DBB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9F50834F-6411-7F5B-05C8-43A1FC80AD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83" name="Group 33">
              <a:extLst>
                <a:ext uri="{FF2B5EF4-FFF2-40B4-BE49-F238E27FC236}">
                  <a16:creationId xmlns:a16="http://schemas.microsoft.com/office/drawing/2014/main" id="{E35ECECA-F720-A13F-9AA5-0AE7A1550422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A483C931-D188-B03C-8E57-608F48A986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9C622A77-5978-CDA7-5D7D-0EE6653E8D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402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4989684B-90A8-E8C0-AC45-8BF3075261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6">
            <a:extLst>
              <a:ext uri="{FF2B5EF4-FFF2-40B4-BE49-F238E27FC236}">
                <a16:creationId xmlns:a16="http://schemas.microsoft.com/office/drawing/2014/main" id="{EDEB85E5-C57C-3503-3A55-EAFFCBB988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FC18D3D-D5D6-3B00-32BC-17B8BDCC1C39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BA29ADD8-7162-EDF1-B29D-DBE9B90C72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8827ABE-274C-1549-4DDF-41E730199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4DA727D-A815-FFBA-5DAB-453996C2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3043F41F-3E76-82F7-977F-FA7B9D214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1B41E92-EE93-87DF-3D21-2040D82508C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8384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4E747307-99C2-2D37-782D-3B19E61F88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1BD9634F-1574-8853-5827-89A8433E674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A07B509F-A8E7-7D8A-AE4B-70C7535319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55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CE434D42-85E1-CF87-DC85-C8B0B0F85C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84604FE2-4189-30D6-0D79-17EB6B413B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DF918D9-D50E-459C-4F77-7983CE359BBE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E470C3A8-6EB3-D134-B1FD-43B5A1C49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2B54588-6547-F5D2-9F94-723FE062BE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268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DD9B4367-FB0A-BAA0-828C-7678AEDB2B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29">
            <a:extLst>
              <a:ext uri="{FF2B5EF4-FFF2-40B4-BE49-F238E27FC236}">
                <a16:creationId xmlns:a16="http://schemas.microsoft.com/office/drawing/2014/main" id="{CC98BB81-55E9-BBD5-A779-A388104B42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E13BA3D-6F40-3093-F79B-A48CDEC840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16">
            <a:extLst>
              <a:ext uri="{FF2B5EF4-FFF2-40B4-BE49-F238E27FC236}">
                <a16:creationId xmlns:a16="http://schemas.microsoft.com/office/drawing/2014/main" id="{5226F4E2-973D-F5A2-D5E1-9531D69AC00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604D837-D903-F6B7-524A-1B0C687AD266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BBD5530-F5AC-496B-A71B-57ED22DD7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AE06E1EE-DC8D-4CC5-156D-E51227448C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C4CC21E-BB24-CFA4-88A0-7679258A3462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F20E712D-4042-3C65-5ACE-887BAF8492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206A955-25DA-0969-8784-CBEE99C525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6931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71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547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91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793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058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3969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85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76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320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785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951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458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925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363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368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72481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layout V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raphic 9">
            <a:extLst>
              <a:ext uri="{FF2B5EF4-FFF2-40B4-BE49-F238E27FC236}">
                <a16:creationId xmlns:a16="http://schemas.microsoft.com/office/drawing/2014/main" id="{6B058AA6-B18B-8EE1-008C-DE1454E86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6" b="641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4" name="Rectangle18">
            <a:extLst>
              <a:ext uri="{FF2B5EF4-FFF2-40B4-BE49-F238E27FC236}">
                <a16:creationId xmlns:a16="http://schemas.microsoft.com/office/drawing/2014/main" id="{89BB2330-CF5A-7D6B-60EC-B4DC7736B9DB}"/>
              </a:ext>
            </a:extLst>
          </p:cNvPr>
          <p:cNvSpPr/>
          <p:nvPr userDrawn="1"/>
        </p:nvSpPr>
        <p:spPr bwMode="gray">
          <a:xfrm>
            <a:off x="0" y="-10633"/>
            <a:ext cx="12191998" cy="6868633"/>
          </a:xfrm>
          <a:prstGeom prst="rect">
            <a:avLst/>
          </a:prstGeom>
          <a:gradFill>
            <a:gsLst>
              <a:gs pos="2200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66717B">
                  <a:alpha val="92000"/>
                </a:srgbClr>
              </a:gs>
              <a:gs pos="98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1276F45-1631-9041-78DB-67BF2ECD8A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3404A3-B3DF-3512-72CE-1885163455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685D7E39-5CBD-C4E8-8E23-1859A20E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63" name="Grafik 13">
            <a:extLst>
              <a:ext uri="{FF2B5EF4-FFF2-40B4-BE49-F238E27FC236}">
                <a16:creationId xmlns:a16="http://schemas.microsoft.com/office/drawing/2014/main" id="{BE5BC6B5-6A14-4225-2EC0-927027197071}"/>
              </a:ext>
            </a:extLst>
          </p:cNvPr>
          <p:cNvGrpSpPr/>
          <p:nvPr userDrawn="1"/>
        </p:nvGrpSpPr>
        <p:grpSpPr>
          <a:xfrm>
            <a:off x="9735258" y="6000795"/>
            <a:ext cx="1791477" cy="442860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64" name="Grafik 13">
              <a:extLst>
                <a:ext uri="{FF2B5EF4-FFF2-40B4-BE49-F238E27FC236}">
                  <a16:creationId xmlns:a16="http://schemas.microsoft.com/office/drawing/2014/main" id="{90C9303C-B081-1DA4-578C-F7217C06DA75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C2BCC1B1-1F81-B20F-E72E-87CF1A7C8C1A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632915ED-231F-F00F-4AA4-CCCDFE3D8EB5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091995-5F71-5D13-2C23-59FA15AC4EBA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6" name="Freihandform: Form 75">
                <a:extLst>
                  <a:ext uri="{FF2B5EF4-FFF2-40B4-BE49-F238E27FC236}">
                    <a16:creationId xmlns:a16="http://schemas.microsoft.com/office/drawing/2014/main" id="{2E75EE8A-29A7-2139-FC3F-D06FE6012169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7" name="Freihandform: Form 76">
                <a:extLst>
                  <a:ext uri="{FF2B5EF4-FFF2-40B4-BE49-F238E27FC236}">
                    <a16:creationId xmlns:a16="http://schemas.microsoft.com/office/drawing/2014/main" id="{F3D2E601-AB9F-84C9-62CB-B1EE7BF41296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8" name="Freihandform: Form 77">
                <a:extLst>
                  <a:ext uri="{FF2B5EF4-FFF2-40B4-BE49-F238E27FC236}">
                    <a16:creationId xmlns:a16="http://schemas.microsoft.com/office/drawing/2014/main" id="{629B6AA4-C9C1-7A7D-F47E-0273F1EF8DBE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9" name="Freihandform: Form 78">
                <a:extLst>
                  <a:ext uri="{FF2B5EF4-FFF2-40B4-BE49-F238E27FC236}">
                    <a16:creationId xmlns:a16="http://schemas.microsoft.com/office/drawing/2014/main" id="{751A2543-7399-B7A3-CB91-B2C5B8C7B9D8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0" name="Freihandform: Form 79">
                <a:extLst>
                  <a:ext uri="{FF2B5EF4-FFF2-40B4-BE49-F238E27FC236}">
                    <a16:creationId xmlns:a16="http://schemas.microsoft.com/office/drawing/2014/main" id="{721D424A-623C-2594-F9F2-E611A790B02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1" name="Freihandform: Form 80">
                <a:extLst>
                  <a:ext uri="{FF2B5EF4-FFF2-40B4-BE49-F238E27FC236}">
                    <a16:creationId xmlns:a16="http://schemas.microsoft.com/office/drawing/2014/main" id="{06EAC23E-0B69-24EB-C3F4-41BB7AFCD7D1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94C203DA-D326-A98F-7E14-3D616978CDCF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3" name="Freihandform: Form 82">
                <a:extLst>
                  <a:ext uri="{FF2B5EF4-FFF2-40B4-BE49-F238E27FC236}">
                    <a16:creationId xmlns:a16="http://schemas.microsoft.com/office/drawing/2014/main" id="{B41B0512-94B5-AD51-D757-09411F7155C3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7DC37BA4-E4E8-3F4D-B467-7FD8E814DCD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7EAF8C9B-71A2-080B-3DA0-704F571A95D9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015DBDAF-1BE0-78EF-A6C6-E748B84A231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667A68EC-7783-24FA-BA3B-F88C7536CC01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3E784E68-8D95-4B1F-C8EE-EF1D3B86A860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1BC4F8DD-BEB4-3F08-E0E8-5E8A0248A3D6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10CEF13C-C579-AD31-9840-F2A7A312A5C0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FF248F38-A924-65AE-5C16-ED0FD3471DAC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" name="TextBox 28">
            <a:extLst>
              <a:ext uri="{FF2B5EF4-FFF2-40B4-BE49-F238E27FC236}">
                <a16:creationId xmlns:a16="http://schemas.microsoft.com/office/drawing/2014/main" id="{9F6A0094-613D-59A6-786C-24D0E9CC1AFA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71310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F09C3FC-8512-48B6-D7C9-C340604A4B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B6711F1-AEF6-F3AF-C2A6-F43E3213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7AA3C1F-1278-0294-79D0-0066365D2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2617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ED8F97-3298-EA51-B1D2-BC39055C729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39DF9E1-BA64-F999-0D30-3D78F242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66650B4-455B-6DF5-8E4A-31F746CE8C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2206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C8E6A85-72D5-522B-0893-FD2E44AFE2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1B5E584-200A-D585-E985-A464C3F711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42BA0-630B-8E4D-E7FB-FB7AE43A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BBD72F61-927C-DE69-FCBD-86030AA4D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6441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94A513C-3E6D-678A-E521-EE0F8DBC31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5D70DCA7-6E2D-FB1B-0DF5-8F58F826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79998472-1711-A5FD-89AA-CC968A3FE7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220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4FE8932-A6BE-5FB5-3425-21D79A92DA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3610942-50A8-E78C-C3BF-FB5D8ED767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D37B1D9E-FB9A-4953-2A9E-0CF30F22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1809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FE6FC93-82E5-818B-8CC1-DAE1F2B676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CF9B05A-F8D0-0515-E964-FC3567912F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2F3B5157-937B-FAE5-144C-2F80500E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9627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788228"/>
            <a:ext cx="10864647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3F3F578-065E-EE79-686F-36C9B6D9F7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1287C8F-31C6-34B7-ED8F-D2186FFD93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F003CA5C-6C68-F260-879D-3BC9EC00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4616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8C40852-4AB9-F11F-FB16-79A5895D8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31074367-5907-55F1-8929-5D74B8E6BB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EF7C0C8-BE09-FFB8-D362-CE357BE0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59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00" y="1808162"/>
            <a:ext cx="12193200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4EFCADA-0A87-541C-3C1F-6F193D6749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83EF582-B99C-F82E-7B26-3B155BB389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2D62C2D-6A9D-40D5-569E-016F3245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482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309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205598F-47D4-4FD9-0433-DCB7041988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3A6BC75-3212-0B0A-CB7D-4D910DC8CC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D296CA3-41B7-15BE-6513-69472B18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70247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480365CF-1F28-33DF-0EDB-9DFBB998476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4D3A061A-7D37-739C-A264-2BB0DEF4B9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B8F3E3F8-88E8-BD38-70DD-09E9900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8963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0FE34400-6178-62D7-73EE-B90FA53675D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36C17BD-0834-E94A-286E-92A882F265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093D6516-E180-0F93-83A3-5CEFB277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778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F1E4947-89E7-40B1-8FCF-0F19D7E4ED2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0578141-BA08-2449-3A27-4C5B9A42A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09EC0708-D4CB-A74F-16F6-F741EE8A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10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A26E8C4-BD4C-AB31-E71C-DAD7778468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FA4F822-5D40-51E9-8311-31F89ADC8D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F657CE7-7058-2F14-F219-936C8D496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1F0A19C-2C72-A5E3-D811-ED56A8011DE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3A13C34A-2A70-9358-9EC4-486760C21D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B99003E6-91ED-853C-06C0-C3263E8D38C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03E2380-5025-64D3-7796-D427243CE44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BDF3E8D-018E-406B-C77A-F863C888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7EB89D15-444B-D1F0-D453-C3D2E3B1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67621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BA0EDFE-4B65-A9A5-7816-292CE8E105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BC147AA-4F02-C7C4-11DC-3147B61D15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B200F90-7752-78AB-8C03-DFC93D1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65561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1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E2AB58E5-4807-FD46-74EC-C2D90647A5C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25" name="Grafik 13">
            <a:extLst>
              <a:ext uri="{FF2B5EF4-FFF2-40B4-BE49-F238E27FC236}">
                <a16:creationId xmlns:a16="http://schemas.microsoft.com/office/drawing/2014/main" id="{177A8AAF-EFEB-9857-DE3A-F953E3F52EC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26" name="Grafik 13">
              <a:extLst>
                <a:ext uri="{FF2B5EF4-FFF2-40B4-BE49-F238E27FC236}">
                  <a16:creationId xmlns:a16="http://schemas.microsoft.com/office/drawing/2014/main" id="{27779385-6115-1011-7C15-99BB38A36000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62434AB-44E1-A26D-5922-3942C609C385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BAB28DC-3F55-AA1F-A92A-72D8F3CAEB63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C7115140-4965-859F-7B46-F587260DA69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B012C6E6-0790-2C17-8564-3010227FE738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DF61B4B8-4A15-50FB-049C-A939B4D23664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A25DCAC4-861C-09C3-CCAD-0F8382D2C339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83234568-EE1B-DC07-93E4-C40842314557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B2290537-8F80-219C-7CEF-E2BDF588132D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16ACE42B-41C0-2201-2835-57602E66BDD9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96AF983F-11C2-E94C-7BE0-9A3D4BBEFFE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0E695EB9-747D-79D6-28DF-A724B738E647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BA96A797-6AA4-5DA6-0FD9-55871323846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F2960C5-ABDF-5FC2-71F7-8EBB1AB47228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F56F62DB-D97B-2547-80CE-7A22FA5F2FFF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0DC179D-381C-2012-70BB-7E98EEDB39B3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83932F7-C323-4D7D-17AA-B624096476B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F86F24FC-6D99-C0E5-30FD-4D05B69EA911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6C4BF0E3-D860-B1FA-1589-34F27C89350F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22ABB7C0-094B-D3C6-22B3-51B67FA30F81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929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5" r:id="rId2"/>
    <p:sldLayoutId id="2147483757" r:id="rId3"/>
    <p:sldLayoutId id="2147483759" r:id="rId4"/>
    <p:sldLayoutId id="2147483879" r:id="rId5"/>
    <p:sldLayoutId id="2147483890" r:id="rId6"/>
    <p:sldLayoutId id="2147483877" r:id="rId7"/>
    <p:sldLayoutId id="2147484215" r:id="rId8"/>
    <p:sldLayoutId id="2147484217" r:id="rId9"/>
    <p:sldLayoutId id="2147484216" r:id="rId10"/>
    <p:sldLayoutId id="2147483889" r:id="rId11"/>
    <p:sldLayoutId id="2147484218" r:id="rId12"/>
    <p:sldLayoutId id="2147484155" r:id="rId13"/>
    <p:sldLayoutId id="2147484146" r:id="rId14"/>
    <p:sldLayoutId id="2147484178" r:id="rId15"/>
    <p:sldLayoutId id="2147484140" r:id="rId16"/>
    <p:sldLayoutId id="2147484603" r:id="rId17"/>
    <p:sldLayoutId id="2147484219" r:id="rId18"/>
    <p:sldLayoutId id="2147483893" r:id="rId19"/>
    <p:sldLayoutId id="2147483753" r:id="rId20"/>
    <p:sldLayoutId id="2147483755" r:id="rId21"/>
    <p:sldLayoutId id="2147483880" r:id="rId22"/>
    <p:sldLayoutId id="2147484209" r:id="rId23"/>
    <p:sldLayoutId id="2147484611" r:id="rId24"/>
    <p:sldLayoutId id="2147483781" r:id="rId25"/>
    <p:sldLayoutId id="2147483751" r:id="rId26"/>
    <p:sldLayoutId id="2147483892" r:id="rId27"/>
    <p:sldLayoutId id="2147484133" r:id="rId28"/>
    <p:sldLayoutId id="2147484613" r:id="rId29"/>
    <p:sldLayoutId id="2147483739" r:id="rId30"/>
    <p:sldLayoutId id="2147484607" r:id="rId31"/>
    <p:sldLayoutId id="2147483740" r:id="rId32"/>
    <p:sldLayoutId id="2147484612" r:id="rId33"/>
    <p:sldLayoutId id="2147483770" r:id="rId34"/>
    <p:sldLayoutId id="2147483773" r:id="rId35"/>
    <p:sldLayoutId id="2147483777" r:id="rId36"/>
    <p:sldLayoutId id="2147484179" r:id="rId37"/>
    <p:sldLayoutId id="2147483775" r:id="rId38"/>
    <p:sldLayoutId id="2147483779" r:id="rId39"/>
    <p:sldLayoutId id="2147484066" r:id="rId40"/>
    <p:sldLayoutId id="2147484121" r:id="rId41"/>
    <p:sldLayoutId id="2147484157" r:id="rId42"/>
    <p:sldLayoutId id="2147484200" r:id="rId43"/>
    <p:sldLayoutId id="2147483791" r:id="rId44"/>
    <p:sldLayoutId id="2147484172" r:id="rId45"/>
    <p:sldLayoutId id="2147484194" r:id="rId46"/>
    <p:sldLayoutId id="2147483783" r:id="rId47"/>
    <p:sldLayoutId id="2147483785" r:id="rId48"/>
    <p:sldLayoutId id="2147484117" r:id="rId49"/>
    <p:sldLayoutId id="2147483787" r:id="rId50"/>
    <p:sldLayoutId id="2147483799" r:id="rId51"/>
    <p:sldLayoutId id="2147484141" r:id="rId52"/>
    <p:sldLayoutId id="2147483801" r:id="rId53"/>
    <p:sldLayoutId id="2147484127" r:id="rId54"/>
    <p:sldLayoutId id="2147483761" r:id="rId55"/>
    <p:sldLayoutId id="2147483894" r:id="rId56"/>
    <p:sldLayoutId id="2147484190" r:id="rId57"/>
    <p:sldLayoutId id="2147483744" r:id="rId58"/>
    <p:sldLayoutId id="2147483746" r:id="rId59"/>
    <p:sldLayoutId id="2147483748" r:id="rId60"/>
    <p:sldLayoutId id="2147483762" r:id="rId61"/>
    <p:sldLayoutId id="2147483763" r:id="rId62"/>
    <p:sldLayoutId id="2147483764" r:id="rId63"/>
    <p:sldLayoutId id="2147483765" r:id="rId64"/>
    <p:sldLayoutId id="2147483767" r:id="rId65"/>
    <p:sldLayoutId id="2147483768" r:id="rId66"/>
    <p:sldLayoutId id="2147484894" r:id="rId6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6">
            <a:extLst>
              <a:ext uri="{FF2B5EF4-FFF2-40B4-BE49-F238E27FC236}">
                <a16:creationId xmlns:a16="http://schemas.microsoft.com/office/drawing/2014/main" id="{1719B499-0542-7343-0DD2-68D66DB1357A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tx2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1E538E9-371E-3AA0-7EC1-F6404176A8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85FB097-35AD-31A1-F555-1F3C2553C80A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8457B419-E27F-D496-42B3-0DC00416BAD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D63461A3-F7E9-5D1B-EB47-2551AFC6B26C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3ED5BC5A-EE5C-00AB-3D0D-5951B00C13EF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0E23E678-9242-80B7-70C9-6662ED9B78C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89051112-C022-66BC-D46C-61137239FD9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D8EF0630-81F4-85BD-7B2C-1BB78AF5455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25" name="TextBox 12">
            <a:extLst>
              <a:ext uri="{FF2B5EF4-FFF2-40B4-BE49-F238E27FC236}">
                <a16:creationId xmlns:a16="http://schemas.microsoft.com/office/drawing/2014/main" id="{C5D477DF-B498-71D1-5FA7-B6853F1F79AC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73C442-ED87-9EC4-0AB3-F65CB1B4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414C343-2E71-520B-08CD-85B13F5A9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6CAF4F76-4A43-31A0-6929-F30D973F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9706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  <p:sldLayoutId id="2147484767" r:id="rId5"/>
    <p:sldLayoutId id="2147484768" r:id="rId6"/>
    <p:sldLayoutId id="2147484769" r:id="rId7"/>
    <p:sldLayoutId id="2147484770" r:id="rId8"/>
    <p:sldLayoutId id="2147484771" r:id="rId9"/>
    <p:sldLayoutId id="2147484772" r:id="rId10"/>
    <p:sldLayoutId id="2147484773" r:id="rId11"/>
    <p:sldLayoutId id="2147484774" r:id="rId12"/>
    <p:sldLayoutId id="2147484775" r:id="rId13"/>
    <p:sldLayoutId id="2147484776" r:id="rId14"/>
    <p:sldLayoutId id="214748477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horturl.at/1IEHo" TargetMode="External"/><Relationship Id="rId2" Type="http://schemas.openxmlformats.org/officeDocument/2006/relationships/hyperlink" Target="https://shorturl.at/M89Kb" TargetMode="Externa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2">
            <a:extLst>
              <a:ext uri="{FF2B5EF4-FFF2-40B4-BE49-F238E27FC236}">
                <a16:creationId xmlns:a16="http://schemas.microsoft.com/office/drawing/2014/main" id="{C59E9797-F4EA-3297-CA30-DB103D421262}"/>
              </a:ext>
            </a:extLst>
          </p:cNvPr>
          <p:cNvSpPr txBox="1">
            <a:spLocks/>
          </p:cNvSpPr>
          <p:nvPr/>
        </p:nvSpPr>
        <p:spPr>
          <a:xfrm>
            <a:off x="723185" y="4350091"/>
            <a:ext cx="7126523" cy="115058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Vehicle Wear &amp; Tear Prediction System</a:t>
            </a:r>
            <a:endParaRPr lang="en-US" sz="2800" b="1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69FF12D2-7000-CA1F-323B-FD6B85DB9A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0542" y="218006"/>
            <a:ext cx="2880000" cy="180000"/>
          </a:xfrm>
        </p:spPr>
        <p:txBody>
          <a:bodyPr>
            <a:normAutofit/>
          </a:bodyPr>
          <a:lstStyle/>
          <a:p>
            <a:r>
              <a:rPr lang="de-DE" dirty="0" err="1">
                <a:solidFill>
                  <a:schemeClr val="tx1"/>
                </a:solidFill>
              </a:rPr>
              <a:t>Mega</a:t>
            </a:r>
            <a:r>
              <a:rPr lang="de-DE" dirty="0">
                <a:solidFill>
                  <a:schemeClr val="tx1"/>
                </a:solidFill>
              </a:rPr>
              <a:t> Project  |  </a:t>
            </a:r>
            <a:r>
              <a:rPr lang="de-DE" dirty="0" err="1">
                <a:solidFill>
                  <a:schemeClr val="tx1"/>
                </a:solidFill>
              </a:rPr>
              <a:t>July</a:t>
            </a:r>
            <a:r>
              <a:rPr lang="de-DE" dirty="0">
                <a:solidFill>
                  <a:schemeClr val="tx1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07968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3462-24D1-BE04-EF1C-60CBD800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817A0FCF-67E8-7083-EC55-97CF54E569F6}"/>
              </a:ext>
            </a:extLst>
          </p:cNvPr>
          <p:cNvSpPr>
            <a:spLocks noGrp="1"/>
          </p:cNvSpPr>
          <p:nvPr/>
        </p:nvSpPr>
        <p:spPr>
          <a:xfrm>
            <a:off x="6096006" y="1485255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9600" b="1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96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96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96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96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AGENDA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31470F72-BBBE-B355-1E2D-CAA899FBFB7C}"/>
              </a:ext>
            </a:extLst>
          </p:cNvPr>
          <p:cNvSpPr>
            <a:spLocks noGrp="1"/>
          </p:cNvSpPr>
          <p:nvPr/>
        </p:nvSpPr>
        <p:spPr bwMode="gray">
          <a:xfrm>
            <a:off x="11351879" y="6506518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E4E5E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E4E5E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1BA2E4B3-4386-2298-3A04-7F6A86F5F9DC}"/>
              </a:ext>
            </a:extLst>
          </p:cNvPr>
          <p:cNvSpPr>
            <a:spLocks noGrp="1"/>
          </p:cNvSpPr>
          <p:nvPr/>
        </p:nvSpPr>
        <p:spPr>
          <a:xfrm>
            <a:off x="658806" y="2061949"/>
            <a:ext cx="5013854" cy="473593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b="1" kern="1200" cap="all" spc="3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Project Overview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Dataset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Tech Stack &amp; Python Concepts Used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Output Report / Dashboard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Summary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Future Scope</a:t>
            </a:r>
          </a:p>
          <a:p>
            <a:endParaRPr lang="de-DE" sz="1200" dirty="0"/>
          </a:p>
        </p:txBody>
      </p:sp>
      <p:sp>
        <p:nvSpPr>
          <p:cNvPr id="18" name="Titel 6">
            <a:extLst>
              <a:ext uri="{FF2B5EF4-FFF2-40B4-BE49-F238E27FC236}">
                <a16:creationId xmlns:a16="http://schemas.microsoft.com/office/drawing/2014/main" id="{7AA374FA-6818-C146-AB18-CAEF947C98DF}"/>
              </a:ext>
            </a:extLst>
          </p:cNvPr>
          <p:cNvSpPr>
            <a:spLocks noGrp="1"/>
          </p:cNvSpPr>
          <p:nvPr/>
        </p:nvSpPr>
        <p:spPr>
          <a:xfrm>
            <a:off x="658806" y="361012"/>
            <a:ext cx="5518264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Vehicle Wear &amp; Tear Prediction System</a:t>
            </a:r>
            <a:endParaRPr lang="en-US" sz="2400" b="1" dirty="0"/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D62B31F0-E3CE-A9C4-8F32-0691A2F622CB}"/>
              </a:ext>
            </a:extLst>
          </p:cNvPr>
          <p:cNvSpPr>
            <a:spLocks noGrp="1"/>
          </p:cNvSpPr>
          <p:nvPr/>
        </p:nvSpPr>
        <p:spPr>
          <a:xfrm>
            <a:off x="658806" y="1177362"/>
            <a:ext cx="5518264" cy="108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Agenda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50FC13-73F9-0F85-D87B-51D609D3B562}"/>
              </a:ext>
            </a:extLst>
          </p:cNvPr>
          <p:cNvCxnSpPr>
            <a:cxnSpLocks/>
          </p:cNvCxnSpPr>
          <p:nvPr/>
        </p:nvCxnSpPr>
        <p:spPr>
          <a:xfrm>
            <a:off x="658806" y="3953870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259B1D-07B3-F1D2-4438-9A789CA8CFA9}"/>
              </a:ext>
            </a:extLst>
          </p:cNvPr>
          <p:cNvCxnSpPr>
            <a:cxnSpLocks/>
          </p:cNvCxnSpPr>
          <p:nvPr/>
        </p:nvCxnSpPr>
        <p:spPr>
          <a:xfrm>
            <a:off x="658806" y="2663282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7117E8-9410-3808-8795-88B2704C6B42}"/>
              </a:ext>
            </a:extLst>
          </p:cNvPr>
          <p:cNvCxnSpPr>
            <a:cxnSpLocks/>
          </p:cNvCxnSpPr>
          <p:nvPr/>
        </p:nvCxnSpPr>
        <p:spPr>
          <a:xfrm>
            <a:off x="658806" y="3313018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20047D-EEC4-5569-6A8C-C1F4A84B43BC}"/>
              </a:ext>
            </a:extLst>
          </p:cNvPr>
          <p:cNvCxnSpPr>
            <a:cxnSpLocks/>
          </p:cNvCxnSpPr>
          <p:nvPr/>
        </p:nvCxnSpPr>
        <p:spPr>
          <a:xfrm>
            <a:off x="658806" y="2311162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5A8AB5-B3C7-6286-C52D-9B9782A2E6B7}"/>
              </a:ext>
            </a:extLst>
          </p:cNvPr>
          <p:cNvCxnSpPr>
            <a:cxnSpLocks/>
          </p:cNvCxnSpPr>
          <p:nvPr/>
        </p:nvCxnSpPr>
        <p:spPr>
          <a:xfrm>
            <a:off x="658806" y="3647924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30CCF0-89BC-A5CC-8522-1A3676C3C1C0}"/>
              </a:ext>
            </a:extLst>
          </p:cNvPr>
          <p:cNvCxnSpPr>
            <a:cxnSpLocks/>
          </p:cNvCxnSpPr>
          <p:nvPr/>
        </p:nvCxnSpPr>
        <p:spPr>
          <a:xfrm>
            <a:off x="658806" y="2971175"/>
            <a:ext cx="4356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ußzeilenplatzhalter 3">
            <a:extLst>
              <a:ext uri="{FF2B5EF4-FFF2-40B4-BE49-F238E27FC236}">
                <a16:creationId xmlns:a16="http://schemas.microsoft.com/office/drawing/2014/main" id="{5C927B2C-0E9F-3DD9-8AB6-067AD4AD0D1E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27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9E5DA9-5711-CB58-FFB7-1102C44FF2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B48A8A8-FA2D-4941-B7A5-20A55C606B37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D3ABF3B-F89B-4CD7-B75C-63A8A662AF01}" type="slidenum">
              <a:rPr lang="en-US" smtClean="0">
                <a:solidFill>
                  <a:srgbClr val="949CA3"/>
                </a:solidFill>
                <a:latin typeface="Arial"/>
              </a:rPr>
              <a:pPr>
                <a:defRPr/>
              </a:pPr>
              <a:t>3</a:t>
            </a:fld>
            <a:endParaRPr lang="en-US">
              <a:solidFill>
                <a:srgbClr val="949CA3"/>
              </a:solidFill>
              <a:latin typeface="Arial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C4FC089-F2A5-D181-C88E-60F00F88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en-US" b="1" dirty="0"/>
              <a:t>1. Project Overview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D32D09-AD71-75E6-18C4-58C962F3E3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1367896"/>
            <a:ext cx="6840000" cy="252000"/>
          </a:xfrm>
        </p:spPr>
        <p:txBody>
          <a:bodyPr/>
          <a:lstStyle/>
          <a:p>
            <a:r>
              <a:rPr lang="en-US" sz="1600" dirty="0"/>
              <a:t>1.1 What Does This System Do?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5EF054-581F-F703-6229-70F93DF02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270" y="3429000"/>
            <a:ext cx="4726816" cy="22354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1516EF-5A38-F3FA-5625-2DB6DCF6F713}"/>
              </a:ext>
            </a:extLst>
          </p:cNvPr>
          <p:cNvSpPr txBox="1"/>
          <p:nvPr/>
        </p:nvSpPr>
        <p:spPr>
          <a:xfrm>
            <a:off x="241270" y="1839844"/>
            <a:ext cx="6096000" cy="2274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Loads vehicle sensor readings, owner details, and service history from a multi-sheet Excel dataset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Compares each sensor reading against defined Green / Yellow / Red threshold ranges to flag its condition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Calculates an overall Vehicle Health Score (0–100%) and generates maintenance recommendations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Produces an automated PDF Health Report with a sensor comparison table, status pie chart, and a plain-language condition summary</a:t>
            </a:r>
          </a:p>
        </p:txBody>
      </p:sp>
      <p:sp>
        <p:nvSpPr>
          <p:cNvPr id="18" name="Fußzeilenplatzhalter 3">
            <a:extLst>
              <a:ext uri="{FF2B5EF4-FFF2-40B4-BE49-F238E27FC236}">
                <a16:creationId xmlns:a16="http://schemas.microsoft.com/office/drawing/2014/main" id="{4C6CC428-9B08-201B-D6F2-5ECD13499507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08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26891F-6F1E-C44A-9CBC-16F22E8251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86B6C5-D7FD-B6D4-E8A1-85256E9ED9A0}"/>
              </a:ext>
            </a:extLst>
          </p:cNvPr>
          <p:cNvSpPr txBox="1"/>
          <p:nvPr/>
        </p:nvSpPr>
        <p:spPr>
          <a:xfrm>
            <a:off x="641684" y="740113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2. Dataset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b="0" dirty="0">
                <a:solidFill>
                  <a:schemeClr val="bg1"/>
                </a:solidFill>
              </a:rPr>
              <a:t>2.1 Dataset Description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Multi-sheet Excel workbook (Vehicle_Health_System_Data.xlsx) with 5 linked sheets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Standard_Thresholds</a:t>
            </a:r>
            <a:r>
              <a:rPr lang="en-US" sz="1200" dirty="0">
                <a:solidFill>
                  <a:schemeClr val="bg1"/>
                </a:solidFill>
              </a:rPr>
              <a:t> — Green/Yellow/Red range for every monitored parameter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Vehicle_Dummy_Data</a:t>
            </a:r>
            <a:r>
              <a:rPr lang="en-US" sz="1200" dirty="0">
                <a:solidFill>
                  <a:schemeClr val="bg1"/>
                </a:solidFill>
              </a:rPr>
              <a:t>  — 12 live sensor readings per vehicle (engine, brakes, battery, coolant, RPM, etc.)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Vehicle_Master</a:t>
            </a:r>
            <a:r>
              <a:rPr lang="en-US" sz="1200" dirty="0">
                <a:solidFill>
                  <a:schemeClr val="bg1"/>
                </a:solidFill>
              </a:rPr>
              <a:t>, </a:t>
            </a:r>
            <a:r>
              <a:rPr lang="en-US" sz="1200" dirty="0" err="1">
                <a:solidFill>
                  <a:schemeClr val="bg1"/>
                </a:solidFill>
              </a:rPr>
              <a:t>Vehicle_Details</a:t>
            </a:r>
            <a:r>
              <a:rPr lang="en-US" sz="1200" dirty="0">
                <a:solidFill>
                  <a:schemeClr val="bg1"/>
                </a:solidFill>
              </a:rPr>
              <a:t> &amp; </a:t>
            </a:r>
            <a:r>
              <a:rPr lang="en-US" sz="1200" dirty="0" err="1">
                <a:solidFill>
                  <a:schemeClr val="bg1"/>
                </a:solidFill>
              </a:rPr>
              <a:t>Service_History</a:t>
            </a:r>
            <a:r>
              <a:rPr lang="en-US" sz="1200" dirty="0">
                <a:solidFill>
                  <a:schemeClr val="bg1"/>
                </a:solidFill>
              </a:rPr>
              <a:t> — owner info, vehicle specs, and past service records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All sheets are linked by a common </a:t>
            </a:r>
            <a:r>
              <a:rPr lang="en-US" sz="1200" dirty="0" err="1">
                <a:solidFill>
                  <a:schemeClr val="bg1"/>
                </a:solidFill>
              </a:rPr>
              <a:t>Vehicle_ID</a:t>
            </a:r>
            <a:r>
              <a:rPr lang="en-US" sz="1200" dirty="0">
                <a:solidFill>
                  <a:schemeClr val="bg1"/>
                </a:solidFill>
              </a:rPr>
              <a:t> for lookup and cross-referencing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Data Set :- </a:t>
            </a:r>
            <a:r>
              <a:rPr lang="en-US" sz="1200" dirty="0">
                <a:solidFill>
                  <a:schemeClr val="bg1"/>
                </a:solidFill>
                <a:hlinkClick r:id="rId2"/>
              </a:rPr>
              <a:t>https://shorturl.at/M89Kb</a:t>
            </a:r>
            <a:endParaRPr lang="en-US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GitHub :- </a:t>
            </a:r>
            <a:r>
              <a:rPr lang="en-US" sz="1200" dirty="0">
                <a:solidFill>
                  <a:schemeClr val="bg1"/>
                </a:solidFill>
                <a:hlinkClick r:id="rId3"/>
              </a:rPr>
              <a:t>https://shorturl.at/1IEHo</a:t>
            </a:r>
            <a:endParaRPr lang="en-US" sz="1200" dirty="0">
              <a:solidFill>
                <a:schemeClr val="bg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Fußzeilenplatzhalter 3">
            <a:extLst>
              <a:ext uri="{FF2B5EF4-FFF2-40B4-BE49-F238E27FC236}">
                <a16:creationId xmlns:a16="http://schemas.microsoft.com/office/drawing/2014/main" id="{DD835ED5-4802-6A45-6993-E206883741C4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68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2D2DB6-56F7-3849-D75F-99653EC4EF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A7C64E4-9727-A9FB-65E2-8CCE790E8FE3}"/>
              </a:ext>
            </a:extLst>
          </p:cNvPr>
          <p:cNvSpPr txBox="1">
            <a:spLocks/>
          </p:cNvSpPr>
          <p:nvPr/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indent="0" algn="r" defTabSz="914400" rtl="0" eaLnBrk="1" latinLnBrk="0" hangingPunct="1">
              <a:lnSpc>
                <a:spcPct val="85000"/>
              </a:lnSpc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85000"/>
              </a:lnSpc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D3ABF3B-F89B-4CD7-B75C-63A8A662AF01}" type="slidenum">
              <a:rPr lang="en-US" smtClean="0">
                <a:solidFill>
                  <a:srgbClr val="949CA3"/>
                </a:solidFill>
                <a:latin typeface="Arial"/>
              </a:rPr>
              <a:pPr>
                <a:defRPr/>
              </a:pPr>
              <a:t>5</a:t>
            </a:fld>
            <a:endParaRPr lang="en-US">
              <a:solidFill>
                <a:srgbClr val="949CA3"/>
              </a:solidFill>
              <a:latin typeface="Arial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A41C4A5C-6263-81D6-0F1C-56237455B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en-US" b="1" dirty="0"/>
              <a:t>3. Tech Stack &amp; Python Concepts Used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EC32CA-12CC-BD7A-6D25-529E9096DA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1177448"/>
            <a:ext cx="6840000" cy="252000"/>
          </a:xfrm>
        </p:spPr>
        <p:txBody>
          <a:bodyPr/>
          <a:lstStyle/>
          <a:p>
            <a:r>
              <a:rPr lang="en-US" sz="1600" dirty="0"/>
              <a:t>3.1 Tech Stack &amp; Key Concepts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BF14BE-A4EF-F61D-F4FC-8A7EC4FAC9CF}"/>
              </a:ext>
            </a:extLst>
          </p:cNvPr>
          <p:cNvSpPr txBox="1"/>
          <p:nvPr/>
        </p:nvSpPr>
        <p:spPr>
          <a:xfrm>
            <a:off x="985777" y="1653449"/>
            <a:ext cx="102204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bg1"/>
                </a:solidFill>
              </a:rPr>
              <a:t> Used:</a:t>
            </a:r>
          </a:p>
          <a:p>
            <a:pPr>
              <a:buNone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Python (Modular &amp; OOP-style Design) — each task in its own module: loader, comparator, scorer,     </a:t>
            </a:r>
          </a:p>
          <a:p>
            <a:r>
              <a:rPr lang="en-US" sz="1200" dirty="0">
                <a:solidFill>
                  <a:schemeClr val="bg1"/>
                </a:solidFill>
              </a:rPr>
              <a:t> recommender, PDF generator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Pandas — reads and processes the multi-sheet Excel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Dictionaries &amp; Conditional Logic — Green/Yellow/Red threshold rules and status checks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Matplotlib — generates the sensor-status pie chart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Report Lab — builds the final PDF health report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List Comprehension &amp; String Formatting — builds summaries, recommendations, and dynamic report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E91DF1-66A5-E9A2-839F-AF189EFD3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92" y="3322311"/>
            <a:ext cx="3133616" cy="213378"/>
          </a:xfrm>
          <a:prstGeom prst="rect">
            <a:avLst/>
          </a:prstGeom>
        </p:spPr>
      </p:pic>
      <p:sp>
        <p:nvSpPr>
          <p:cNvPr id="14" name="Fußzeilenplatzhalter 3">
            <a:extLst>
              <a:ext uri="{FF2B5EF4-FFF2-40B4-BE49-F238E27FC236}">
                <a16:creationId xmlns:a16="http://schemas.microsoft.com/office/drawing/2014/main" id="{D92464A5-2C8E-6068-D4F9-0D0930001342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74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CBE45240-51CC-A1D6-8FE8-31FD19C36E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3ABF3B-F89B-4CD7-B75C-63A8A662AF0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949CA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949CA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2977A929-A7EF-91E7-96FE-6622491D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en-US" b="1" dirty="0"/>
              <a:t>4. Output Report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E840D87-AF0C-9B07-0612-EA176C6B69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1200" y="1461623"/>
            <a:ext cx="6840000" cy="252000"/>
          </a:xfrm>
        </p:spPr>
        <p:txBody>
          <a:bodyPr/>
          <a:lstStyle/>
          <a:p>
            <a:r>
              <a:rPr lang="en-US" sz="1600" dirty="0"/>
              <a:t>4.1 PDF Health Report Contents</a:t>
            </a:r>
          </a:p>
          <a:p>
            <a:endParaRPr lang="en-US" sz="1200" b="0" dirty="0"/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Vehicle &amp; owner details — ID, number, make/model, contact info, last &amp; next service dates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Sensor comparison table — every parameter's Green/Yellow/Red range vs. this vehicle's actual reading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Health Score — overall percentage summarizing vehicle condition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Status distribution pie chart — visual split of GREEN / YELLOW / RED sensors</a:t>
            </a:r>
          </a:p>
          <a:p>
            <a:pPr marL="628650" marR="0" lvl="1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Narrative condition summary — plain-language paragraphs plus specific recommendations</a:t>
            </a:r>
          </a:p>
        </p:txBody>
      </p:sp>
      <p:sp>
        <p:nvSpPr>
          <p:cNvPr id="20" name="Fußzeilenplatzhalter 3">
            <a:extLst>
              <a:ext uri="{FF2B5EF4-FFF2-40B4-BE49-F238E27FC236}">
                <a16:creationId xmlns:a16="http://schemas.microsoft.com/office/drawing/2014/main" id="{13F78278-E1FC-1FB8-FB93-0871379366ED}"/>
              </a:ext>
            </a:extLst>
          </p:cNvPr>
          <p:cNvSpPr txBox="1">
            <a:spLocks/>
          </p:cNvSpPr>
          <p:nvPr/>
        </p:nvSpPr>
        <p:spPr>
          <a:xfrm>
            <a:off x="1353067" y="6498670"/>
            <a:ext cx="7560000" cy="108000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bg1"/>
                </a:solidFill>
              </a:rPr>
              <a:t>EDAG Electrics/Electronics     Author: </a:t>
            </a:r>
            <a:r>
              <a:rPr lang="de-DE" sz="800" dirty="0">
                <a:solidFill>
                  <a:schemeClr val="bg1"/>
                </a:solidFill>
              </a:rPr>
              <a:t>I&amp;V Team      </a:t>
            </a:r>
            <a:r>
              <a:rPr lang="en-US" sz="800" dirty="0">
                <a:solidFill>
                  <a:schemeClr val="bg1"/>
                </a:solidFill>
              </a:rPr>
              <a:t>Version:1.0     	    Scope: EDAG Group     internal</a:t>
            </a:r>
            <a:endParaRPr lang="de-DE" sz="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046AC1-6BA3-CB85-040E-5B52216E2D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874" y="3357134"/>
            <a:ext cx="5222926" cy="290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44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30F972-4C2F-6675-5BFE-FF48C709AD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B76B0-5194-3B28-5F6F-352F5D523A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EDAG Electrics/Electronics     Author: I&amp;V Team 	</a:t>
            </a:r>
            <a:r>
              <a:rPr lang="de-DE" dirty="0"/>
              <a:t>V</a:t>
            </a:r>
            <a:r>
              <a:rPr lang="en-US" dirty="0" err="1"/>
              <a:t>ersion</a:t>
            </a:r>
            <a:r>
              <a:rPr lang="en-US" dirty="0"/>
              <a:t>: 1.0    	    Scope: EDAG Group     internal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17F78-8C0C-BFDF-BF3B-9B08B0E4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Component diagram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E5C0C-2CCC-CC9D-EBB3-30805E864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67" y="1070383"/>
            <a:ext cx="6062133" cy="526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20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5343B-BCB0-ECDF-67B2-38F7E01E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44D656-F7E0-3EEE-7264-A512B4E530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7C73F-ED34-BAEE-97C5-6C12BC1099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EDAG Electrics/Electronics     Author: </a:t>
            </a:r>
            <a:r>
              <a:rPr lang="de-DE" dirty="0"/>
              <a:t>I &amp; V Team	V</a:t>
            </a:r>
            <a:r>
              <a:rPr lang="en-US" dirty="0" err="1"/>
              <a:t>ersion</a:t>
            </a:r>
            <a:r>
              <a:rPr lang="en-US" dirty="0"/>
              <a:t>: 1.0    	    Scope: EDAG Group     internal</a:t>
            </a:r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711924-0DAF-C6F0-18EB-A2DA1982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Flow diagram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41FB8-1476-6511-37E9-CBA83BA92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676" y="0"/>
            <a:ext cx="6056923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2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9C52BA4-FF11-550B-707C-E9DC1F3BB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67" y="2409296"/>
            <a:ext cx="10885465" cy="1338371"/>
          </a:xfrm>
        </p:spPr>
        <p:txBody>
          <a:bodyPr/>
          <a:lstStyle/>
          <a:p>
            <a:pPr algn="ctr"/>
            <a:r>
              <a:rPr lang="de-DE" dirty="0"/>
              <a:t>THANK YOU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C39DD4A-645B-3F59-B46C-88FE0FF0B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AA90A0-3494-4BB6-B639-8005F0180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EDAG Electrics/Electronics     Author: </a:t>
            </a:r>
            <a:r>
              <a:rPr lang="de-DE" dirty="0"/>
              <a:t>I&amp;V Team      </a:t>
            </a:r>
            <a:r>
              <a:rPr lang="en-US" dirty="0"/>
              <a:t>Version:1.0     	    Scope: EDAG Group     internal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41057"/>
      </p:ext>
    </p:extLst>
  </p:cSld>
  <p:clrMapOvr>
    <a:masterClrMapping/>
  </p:clrMapOvr>
</p:sld>
</file>

<file path=ppt/theme/theme1.xml><?xml version="1.0" encoding="utf-8"?>
<a:theme xmlns:a="http://schemas.openxmlformats.org/drawingml/2006/main" name="EDAG DARK Mode GRAY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B0DADF95-3037-40C7-81F5-F1197A58B0FF}"/>
    </a:ext>
  </a:extLst>
</a:theme>
</file>

<file path=ppt/theme/theme2.xml><?xml version="1.0" encoding="utf-8"?>
<a:theme xmlns:a="http://schemas.openxmlformats.org/drawingml/2006/main" name="EDAG LIGHT Mode WITHOUT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E50AF625-8F2D-4F96-A934-E1FA0557E63D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acf788-9cd5-416f-9fb2-a86e557f81d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055D29B89CF44B3985284B9400F98" ma:contentTypeVersion="9" ma:contentTypeDescription="Create a new document." ma:contentTypeScope="" ma:versionID="9acd17e95e84049fd722c8dd3745ab66">
  <xsd:schema xmlns:xsd="http://www.w3.org/2001/XMLSchema" xmlns:xs="http://www.w3.org/2001/XMLSchema" xmlns:p="http://schemas.microsoft.com/office/2006/metadata/properties" xmlns:ns2="e1acf788-9cd5-416f-9fb2-a86e557f81d3" targetNamespace="http://schemas.microsoft.com/office/2006/metadata/properties" ma:root="true" ma:fieldsID="339fe59c9eea1f87f0c691e96f8515e6" ns2:_="">
    <xsd:import namespace="e1acf788-9cd5-416f-9fb2-a86e557f81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cf788-9cd5-416f-9fb2-a86e557f81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4b36a-b554-4ae8-82dd-230f06b823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43C257-1004-4FF2-B048-6CA79940C365}">
  <ds:schemaRefs>
    <ds:schemaRef ds:uri="http://purl.org/dc/elements/1.1/"/>
    <ds:schemaRef ds:uri="http://schemas.microsoft.com/office/2006/metadata/properties"/>
    <ds:schemaRef ds:uri="e1acf788-9cd5-416f-9fb2-a86e557f81d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8EAAB53-B979-4852-A076-02DCA28C5A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5A5B29-DDA4-491B-A9C6-06721FE8A2E6}">
  <ds:schemaRefs>
    <ds:schemaRef ds:uri="e1acf788-9cd5-416f-9fb2-a86e557f81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EDAG_EE_PPT_Template_EN</Template>
  <TotalTime>0</TotalTime>
  <Words>604</Words>
  <Application>Microsoft Office PowerPoint</Application>
  <PresentationFormat>Widescreen</PresentationFormat>
  <Paragraphs>73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Symbol</vt:lpstr>
      <vt:lpstr>EDAG DARK Mode GRAY CORNER</vt:lpstr>
      <vt:lpstr>EDAG LIGHT Mode WITHOUT CORNER</vt:lpstr>
      <vt:lpstr>PowerPoint Presentation</vt:lpstr>
      <vt:lpstr>PowerPoint Presentation</vt:lpstr>
      <vt:lpstr>1. Project Overview</vt:lpstr>
      <vt:lpstr>PowerPoint Presentation</vt:lpstr>
      <vt:lpstr>3. Tech Stack &amp; Python Concepts Used</vt:lpstr>
      <vt:lpstr>4. Output Report</vt:lpstr>
      <vt:lpstr>5. Component diagram</vt:lpstr>
      <vt:lpstr>6. Flow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Mahmoud, Ahmed</dc:creator>
  <cp:lastModifiedBy>Ugare, Parth</cp:lastModifiedBy>
  <cp:revision>8</cp:revision>
  <dcterms:created xsi:type="dcterms:W3CDTF">2026-04-08T13:27:13Z</dcterms:created>
  <dcterms:modified xsi:type="dcterms:W3CDTF">2026-07-30T12:04:22Z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0x010100DFC055D29B89CF44B3985284B9400F98</vt:lpwstr>
  </property>
  <property fmtid="{D5CDD505-2E9C-101B-9397-08002B2CF9AE}" pid="3" name="MediaServiceImageTags">
    <vt:lpwstr/>
  </property>
</Properties>
</file>