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762" r:id="rId5"/>
  </p:sldMasterIdLst>
  <p:notesMasterIdLst>
    <p:notesMasterId r:id="rId13"/>
  </p:notesMasterIdLst>
  <p:handoutMasterIdLst>
    <p:handoutMasterId r:id="rId14"/>
  </p:handoutMasterIdLst>
  <p:sldIdLst>
    <p:sldId id="328" r:id="rId6"/>
    <p:sldId id="364" r:id="rId7"/>
    <p:sldId id="386" r:id="rId8"/>
    <p:sldId id="388" r:id="rId9"/>
    <p:sldId id="387" r:id="rId10"/>
    <p:sldId id="365" r:id="rId11"/>
    <p:sldId id="287" r:id="rId12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E955FA7-262E-3538-E9D9-8E34C2E1FE61}" name="Sharma, Sumeet" initials="SS" userId="S::sumeet.sharma@edag.com::c624ab3b-560b-4ec9-ba5e-3f3e40f08e2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3FEE"/>
    <a:srgbClr val="A1D3C2"/>
    <a:srgbClr val="64966C"/>
    <a:srgbClr val="2F3941"/>
    <a:srgbClr val="772D5D"/>
    <a:srgbClr val="4BACB9"/>
    <a:srgbClr val="E9B73B"/>
    <a:srgbClr val="F4F5F6"/>
    <a:srgbClr val="455561"/>
    <a:srgbClr val="232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69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EDAG Electrics/Electronics     Author:</a:t>
            </a:r>
            <a:r>
              <a:rPr lang="de-DE" dirty="0">
                <a:solidFill>
                  <a:srgbClr val="E4E5E6"/>
                </a:solidFill>
              </a:rPr>
              <a:t> I&amp;V Team      </a:t>
            </a:r>
            <a:r>
              <a:rPr lang="en-US" dirty="0"/>
              <a:t>Version: 1.0                                                 Scope: EDAG Group     internal</a:t>
            </a:r>
            <a:endParaRPr lang="de-DE" dirty="0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" b="641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0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8">
            <a:extLst>
              <a:ext uri="{FF2B5EF4-FFF2-40B4-BE49-F238E27FC236}">
                <a16:creationId xmlns:a16="http://schemas.microsoft.com/office/drawing/2014/main" id="{9F6A0094-613D-59A6-786C-24D0E9CC1AFA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1310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  <p:sldLayoutId id="2147484894" r:id="rId6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url.at/1IEHo" TargetMode="External"/><Relationship Id="rId2" Type="http://schemas.openxmlformats.org/officeDocument/2006/relationships/hyperlink" Target="https://shorturl.at/M89Kb" TargetMode="Externa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C59E9797-F4EA-3297-CA30-DB103D421262}"/>
              </a:ext>
            </a:extLst>
          </p:cNvPr>
          <p:cNvSpPr txBox="1">
            <a:spLocks/>
          </p:cNvSpPr>
          <p:nvPr/>
        </p:nvSpPr>
        <p:spPr>
          <a:xfrm>
            <a:off x="723185" y="4350091"/>
            <a:ext cx="7126523" cy="11505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 b="1" dirty="0"/>
              <a:t>Vehicle Health Monitoring System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69FF12D2-7000-CA1F-323B-FD6B85DB9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542" y="218006"/>
            <a:ext cx="2880000" cy="180000"/>
          </a:xfrm>
        </p:spPr>
        <p:txBody>
          <a:bodyPr>
            <a:normAutofit/>
          </a:bodyPr>
          <a:lstStyle/>
          <a:p>
            <a:r>
              <a:rPr lang="de-DE" dirty="0" err="1">
                <a:solidFill>
                  <a:schemeClr val="tx1"/>
                </a:solidFill>
              </a:rPr>
              <a:t>Mega</a:t>
            </a:r>
            <a:r>
              <a:rPr lang="de-DE" dirty="0">
                <a:solidFill>
                  <a:schemeClr val="tx1"/>
                </a:solidFill>
              </a:rPr>
              <a:t> Project  |  </a:t>
            </a:r>
            <a:r>
              <a:rPr lang="de-DE" dirty="0" err="1">
                <a:solidFill>
                  <a:schemeClr val="tx1"/>
                </a:solidFill>
              </a:rPr>
              <a:t>July</a:t>
            </a:r>
            <a:r>
              <a:rPr lang="de-DE" dirty="0">
                <a:solidFill>
                  <a:schemeClr val="tx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07968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3462-24D1-BE04-EF1C-60CBD800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817A0FCF-67E8-7083-EC55-97CF54E569F6}"/>
              </a:ext>
            </a:extLst>
          </p:cNvPr>
          <p:cNvSpPr>
            <a:spLocks noGrp="1"/>
          </p:cNvSpPr>
          <p:nvPr/>
        </p:nvSpPr>
        <p:spPr>
          <a:xfrm>
            <a:off x="6096006" y="1485255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600" b="1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AGENDA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31470F72-BBBE-B355-1E2D-CAA899FBFB7C}"/>
              </a:ext>
            </a:extLst>
          </p:cNvPr>
          <p:cNvSpPr>
            <a:spLocks noGrp="1"/>
          </p:cNvSpPr>
          <p:nvPr/>
        </p:nvSpPr>
        <p:spPr bwMode="gray">
          <a:xfrm>
            <a:off x="11351879" y="6506518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1BA2E4B3-4386-2298-3A04-7F6A86F5F9DC}"/>
              </a:ext>
            </a:extLst>
          </p:cNvPr>
          <p:cNvSpPr>
            <a:spLocks noGrp="1"/>
          </p:cNvSpPr>
          <p:nvPr/>
        </p:nvSpPr>
        <p:spPr>
          <a:xfrm>
            <a:off x="658806" y="2061949"/>
            <a:ext cx="5013854" cy="473593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kern="1200" cap="all" spc="3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Project Overview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Dataset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Tech Stack &amp; Python Concepts Used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Output Report / Dashboard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Summary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Future Scope</a:t>
            </a:r>
          </a:p>
          <a:p>
            <a:endParaRPr lang="de-DE" sz="1200" dirty="0"/>
          </a:p>
        </p:txBody>
      </p:sp>
      <p:sp>
        <p:nvSpPr>
          <p:cNvPr id="18" name="Titel 6">
            <a:extLst>
              <a:ext uri="{FF2B5EF4-FFF2-40B4-BE49-F238E27FC236}">
                <a16:creationId xmlns:a16="http://schemas.microsoft.com/office/drawing/2014/main" id="{7AA374FA-6818-C146-AB18-CAEF947C98DF}"/>
              </a:ext>
            </a:extLst>
          </p:cNvPr>
          <p:cNvSpPr>
            <a:spLocks noGrp="1"/>
          </p:cNvSpPr>
          <p:nvPr/>
        </p:nvSpPr>
        <p:spPr>
          <a:xfrm>
            <a:off x="658806" y="361012"/>
            <a:ext cx="5518264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dirty="0"/>
              <a:t>Vehicle </a:t>
            </a:r>
            <a:r>
              <a:rPr lang="en-US" dirty="0"/>
              <a:t>health monitoring</a:t>
            </a:r>
          </a:p>
          <a:p>
            <a:r>
              <a:rPr lang="en-US" dirty="0"/>
              <a:t>system</a:t>
            </a:r>
            <a:endParaRPr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D62B31F0-E3CE-A9C4-8F32-0691A2F622CB}"/>
              </a:ext>
            </a:extLst>
          </p:cNvPr>
          <p:cNvSpPr>
            <a:spLocks noGrp="1"/>
          </p:cNvSpPr>
          <p:nvPr/>
        </p:nvSpPr>
        <p:spPr>
          <a:xfrm>
            <a:off x="658806" y="1034328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Agenda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50FC13-73F9-0F85-D87B-51D609D3B562}"/>
              </a:ext>
            </a:extLst>
          </p:cNvPr>
          <p:cNvCxnSpPr>
            <a:cxnSpLocks/>
          </p:cNvCxnSpPr>
          <p:nvPr/>
        </p:nvCxnSpPr>
        <p:spPr>
          <a:xfrm>
            <a:off x="658806" y="3953870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259B1D-07B3-F1D2-4438-9A789CA8CFA9}"/>
              </a:ext>
            </a:extLst>
          </p:cNvPr>
          <p:cNvCxnSpPr>
            <a:cxnSpLocks/>
          </p:cNvCxnSpPr>
          <p:nvPr/>
        </p:nvCxnSpPr>
        <p:spPr>
          <a:xfrm>
            <a:off x="658806" y="2663282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7117E8-9410-3808-8795-88B2704C6B42}"/>
              </a:ext>
            </a:extLst>
          </p:cNvPr>
          <p:cNvCxnSpPr>
            <a:cxnSpLocks/>
          </p:cNvCxnSpPr>
          <p:nvPr/>
        </p:nvCxnSpPr>
        <p:spPr>
          <a:xfrm>
            <a:off x="658806" y="3313018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20047D-EEC4-5569-6A8C-C1F4A84B43BC}"/>
              </a:ext>
            </a:extLst>
          </p:cNvPr>
          <p:cNvCxnSpPr>
            <a:cxnSpLocks/>
          </p:cNvCxnSpPr>
          <p:nvPr/>
        </p:nvCxnSpPr>
        <p:spPr>
          <a:xfrm>
            <a:off x="658806" y="2311162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5A8AB5-B3C7-6286-C52D-9B9782A2E6B7}"/>
              </a:ext>
            </a:extLst>
          </p:cNvPr>
          <p:cNvCxnSpPr>
            <a:cxnSpLocks/>
          </p:cNvCxnSpPr>
          <p:nvPr/>
        </p:nvCxnSpPr>
        <p:spPr>
          <a:xfrm>
            <a:off x="658806" y="3647924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30CCF0-89BC-A5CC-8522-1A3676C3C1C0}"/>
              </a:ext>
            </a:extLst>
          </p:cNvPr>
          <p:cNvCxnSpPr>
            <a:cxnSpLocks/>
          </p:cNvCxnSpPr>
          <p:nvPr/>
        </p:nvCxnSpPr>
        <p:spPr>
          <a:xfrm>
            <a:off x="658806" y="2971175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ußzeilenplatzhalter 3">
            <a:extLst>
              <a:ext uri="{FF2B5EF4-FFF2-40B4-BE49-F238E27FC236}">
                <a16:creationId xmlns:a16="http://schemas.microsoft.com/office/drawing/2014/main" id="{5C927B2C-0E9F-3DD9-8AB6-067AD4AD0D1E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27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9E5DA9-5711-CB58-FFB7-1102C44FF2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B48A8A8-FA2D-4941-B7A5-20A55C606B37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D3ABF3B-F89B-4CD7-B75C-63A8A662AF01}" type="slidenum">
              <a:rPr lang="en-US" smtClean="0">
                <a:solidFill>
                  <a:srgbClr val="949CA3"/>
                </a:solidFill>
                <a:latin typeface="Arial"/>
              </a:rPr>
              <a:pPr>
                <a:defRPr/>
              </a:pPr>
              <a:t>3</a:t>
            </a:fld>
            <a:endParaRPr lang="en-US">
              <a:solidFill>
                <a:srgbClr val="949CA3"/>
              </a:solidFill>
              <a:latin typeface="Arial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C4FC089-F2A5-D181-C88E-60F00F88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1. Project Overview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D32D09-AD71-75E6-18C4-58C962F3E3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367896"/>
            <a:ext cx="6840000" cy="252000"/>
          </a:xfrm>
        </p:spPr>
        <p:txBody>
          <a:bodyPr/>
          <a:lstStyle/>
          <a:p>
            <a:r>
              <a:rPr lang="en-US" sz="1600" dirty="0"/>
              <a:t>1.1 What Does This System Do?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5EF054-581F-F703-6229-70F93DF0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270" y="3429000"/>
            <a:ext cx="4726816" cy="22354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1516EF-5A38-F3FA-5625-2DB6DCF6F713}"/>
              </a:ext>
            </a:extLst>
          </p:cNvPr>
          <p:cNvSpPr txBox="1"/>
          <p:nvPr/>
        </p:nvSpPr>
        <p:spPr>
          <a:xfrm>
            <a:off x="241270" y="183984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Loads vehicle sensor readings, owner details, and service history from a multi-sheet Excel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Compares each sensor reading against defined Green / Yellow / Red threshold ranges to flag its condition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Calculates an overall Vehicle Health Score (0–100%) and generates maintenance recommendations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Produces an automated PDF Health Report with a sensor comparison table, status pie chart, and a plain-language condition summary</a:t>
            </a:r>
          </a:p>
        </p:txBody>
      </p:sp>
      <p:sp>
        <p:nvSpPr>
          <p:cNvPr id="18" name="Fußzeilenplatzhalter 3">
            <a:extLst>
              <a:ext uri="{FF2B5EF4-FFF2-40B4-BE49-F238E27FC236}">
                <a16:creationId xmlns:a16="http://schemas.microsoft.com/office/drawing/2014/main" id="{4C6CC428-9B08-201B-D6F2-5ECD13499507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8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6891F-6F1E-C44A-9CBC-16F22E825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6B6C5-D7FD-B6D4-E8A1-85256E9ED9A0}"/>
              </a:ext>
            </a:extLst>
          </p:cNvPr>
          <p:cNvSpPr txBox="1"/>
          <p:nvPr/>
        </p:nvSpPr>
        <p:spPr>
          <a:xfrm>
            <a:off x="641684" y="74011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2. Dataset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chemeClr val="bg1"/>
                </a:solidFill>
              </a:rPr>
              <a:t>2.1 Dataset Description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Multi-sheet Excel workbook (Vehicle_Health_System_Data.xlsx) with 5 linked sheets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Standard_Thresholds</a:t>
            </a:r>
            <a:r>
              <a:rPr lang="en-US" sz="1200" dirty="0">
                <a:solidFill>
                  <a:schemeClr val="bg1"/>
                </a:solidFill>
              </a:rPr>
              <a:t> — Green/Yellow/Red range for every monitored parameter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Vehicle_Dummy_Data</a:t>
            </a:r>
            <a:r>
              <a:rPr lang="en-US" sz="1200" dirty="0">
                <a:solidFill>
                  <a:schemeClr val="bg1"/>
                </a:solidFill>
              </a:rPr>
              <a:t>  — 12 live sensor readings per vehicle (engine, brakes, battery, coolant, RPM, etc.)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Vehicle_Master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Vehicle_Details</a:t>
            </a:r>
            <a:r>
              <a:rPr lang="en-US" sz="1200" dirty="0">
                <a:solidFill>
                  <a:schemeClr val="bg1"/>
                </a:solidFill>
              </a:rPr>
              <a:t> &amp; </a:t>
            </a:r>
            <a:r>
              <a:rPr lang="en-US" sz="1200" dirty="0" err="1">
                <a:solidFill>
                  <a:schemeClr val="bg1"/>
                </a:solidFill>
              </a:rPr>
              <a:t>Service_History</a:t>
            </a:r>
            <a:r>
              <a:rPr lang="en-US" sz="1200" dirty="0">
                <a:solidFill>
                  <a:schemeClr val="bg1"/>
                </a:solidFill>
              </a:rPr>
              <a:t> — owner info, vehicle specs, and past service records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All sheets are linked by a common </a:t>
            </a:r>
            <a:r>
              <a:rPr lang="en-US" sz="1200" dirty="0" err="1">
                <a:solidFill>
                  <a:schemeClr val="bg1"/>
                </a:solidFill>
              </a:rPr>
              <a:t>Vehicle_ID</a:t>
            </a:r>
            <a:r>
              <a:rPr lang="en-US" sz="1200" dirty="0">
                <a:solidFill>
                  <a:schemeClr val="bg1"/>
                </a:solidFill>
              </a:rPr>
              <a:t> for lookup and cross-referencing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Data Set :- </a:t>
            </a:r>
            <a:r>
              <a:rPr lang="en-US" sz="1200" dirty="0">
                <a:solidFill>
                  <a:schemeClr val="bg1"/>
                </a:solidFill>
                <a:hlinkClick r:id="rId2"/>
              </a:rPr>
              <a:t>https://shorturl.at/M89Kb</a:t>
            </a: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GitHub :- </a:t>
            </a:r>
            <a:r>
              <a:rPr lang="en-US" sz="1200" dirty="0">
                <a:solidFill>
                  <a:schemeClr val="bg1"/>
                </a:solidFill>
                <a:hlinkClick r:id="rId3"/>
              </a:rPr>
              <a:t>https://shorturl.at/1IEHo</a:t>
            </a: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DD835ED5-4802-6A45-6993-E206883741C4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68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D2DB6-56F7-3849-D75F-99653EC4EF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A7C64E4-9727-A9FB-65E2-8CCE790E8FE3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D3ABF3B-F89B-4CD7-B75C-63A8A662AF01}" type="slidenum">
              <a:rPr lang="en-US" smtClean="0">
                <a:solidFill>
                  <a:srgbClr val="949CA3"/>
                </a:solidFill>
                <a:latin typeface="Arial"/>
              </a:rPr>
              <a:pPr>
                <a:defRPr/>
              </a:pPr>
              <a:t>5</a:t>
            </a:fld>
            <a:endParaRPr lang="en-US">
              <a:solidFill>
                <a:srgbClr val="949CA3"/>
              </a:solidFill>
              <a:latin typeface="Arial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41C4A5C-6263-81D6-0F1C-56237455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3. Tech Stack &amp; Python Concepts Used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EC32CA-12CC-BD7A-6D25-529E9096DA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177448"/>
            <a:ext cx="6840000" cy="252000"/>
          </a:xfrm>
        </p:spPr>
        <p:txBody>
          <a:bodyPr/>
          <a:lstStyle/>
          <a:p>
            <a:r>
              <a:rPr lang="en-US" sz="1600" dirty="0"/>
              <a:t>3.1 Tech Stack &amp; Key Concepts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F14BE-A4EF-F61D-F4FC-8A7EC4FAC9CF}"/>
              </a:ext>
            </a:extLst>
          </p:cNvPr>
          <p:cNvSpPr txBox="1"/>
          <p:nvPr/>
        </p:nvSpPr>
        <p:spPr>
          <a:xfrm>
            <a:off x="985777" y="1653449"/>
            <a:ext cx="102204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 Used:</a:t>
            </a: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Python (Modular &amp; OOP-style Design) — each task in its own module: loader, comparator, scorer,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recommender, PDF generator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Pandas — reads and processes the multi-sheet Excel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Dictionaries &amp; Conditional Logic — Green/Yellow/Red threshold rules and status checks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Matplotlib — generates the sensor-status pie chart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Report Lab — builds the final PDF health report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List Comprehension &amp; String Formatting — builds summaries, recommendations, and dynamic report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E91DF1-66A5-E9A2-839F-AF189EFD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92" y="3322311"/>
            <a:ext cx="3133616" cy="213378"/>
          </a:xfrm>
          <a:prstGeom prst="rect">
            <a:avLst/>
          </a:prstGeom>
        </p:spPr>
      </p:pic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D92464A5-2C8E-6068-D4F9-0D0930001342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74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BE45240-51CC-A1D6-8FE8-31FD19C36E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49CA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949CA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2977A929-A7EF-91E7-96FE-6622491D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4. Output Report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E840D87-AF0C-9B07-0612-EA176C6B69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200" y="1461623"/>
            <a:ext cx="6840000" cy="252000"/>
          </a:xfrm>
        </p:spPr>
        <p:txBody>
          <a:bodyPr/>
          <a:lstStyle/>
          <a:p>
            <a:r>
              <a:rPr lang="en-US" sz="1600" dirty="0"/>
              <a:t>4.1 PDF Health Report Contents</a:t>
            </a:r>
          </a:p>
          <a:p>
            <a:endParaRPr lang="en-US" sz="1200" b="0" dirty="0"/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&amp; owner details — ID, number, make/model, contact info, last &amp; next service dates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Sensor comparison table — every parameter's Green/Yellow/Red range vs. this vehicle's actual reading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Health Score — overall percentage summarizing vehicle condition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Status distribution pie chart — visual split of GREEN / YELLOW / RED sensors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condition summary — plain-language paragraphs plus specific recommendations</a:t>
            </a:r>
          </a:p>
        </p:txBody>
      </p:sp>
      <p:pic>
        <p:nvPicPr>
          <p:cNvPr id="17" name="Picture 16" descr="pie_chart.png">
            <a:extLst>
              <a:ext uri="{FF2B5EF4-FFF2-40B4-BE49-F238E27FC236}">
                <a16:creationId xmlns:a16="http://schemas.microsoft.com/office/drawing/2014/main" id="{424D4B51-9BD2-2BC4-0908-9DD6D3C44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200" y="2896779"/>
            <a:ext cx="4490386" cy="3136739"/>
          </a:xfrm>
          <a:prstGeom prst="rect">
            <a:avLst/>
          </a:prstGeom>
        </p:spPr>
      </p:pic>
      <p:sp>
        <p:nvSpPr>
          <p:cNvPr id="20" name="Fußzeilenplatzhalter 3">
            <a:extLst>
              <a:ext uri="{FF2B5EF4-FFF2-40B4-BE49-F238E27FC236}">
                <a16:creationId xmlns:a16="http://schemas.microsoft.com/office/drawing/2014/main" id="{13F78278-E1FC-1FB8-FB93-0871379366ED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74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9C52BA4-FF11-550B-707C-E9DC1F3B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7" y="2409296"/>
            <a:ext cx="10885465" cy="1338371"/>
          </a:xfrm>
        </p:spPr>
        <p:txBody>
          <a:bodyPr/>
          <a:lstStyle/>
          <a:p>
            <a:pPr algn="ctr"/>
            <a:r>
              <a:rPr lang="de-DE" dirty="0"/>
              <a:t>THANK YOU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C39DD4A-645B-3F59-B46C-88FE0FF0B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A90A0-3494-4BB6-B639-8005F0180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EDAG Electrics/Electronics     Author: </a:t>
            </a:r>
            <a:r>
              <a:rPr lang="de-DE" dirty="0"/>
              <a:t>I&amp;V Team      </a:t>
            </a:r>
            <a:r>
              <a:rPr lang="en-US" dirty="0"/>
              <a:t>Version:1.0     	    Scope: EDAG Group     internal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41057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43C257-1004-4FF2-B048-6CA79940C365}">
  <ds:schemaRefs>
    <ds:schemaRef ds:uri="http://purl.org/dc/elements/1.1/"/>
    <ds:schemaRef ds:uri="http://schemas.microsoft.com/office/2006/metadata/properties"/>
    <ds:schemaRef ds:uri="e1acf788-9cd5-416f-9fb2-a86e557f81d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5A5B29-DDA4-491B-A9C6-06721FE8A2E6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TotalTime>0</TotalTime>
  <Words>546</Words>
  <Application>Microsoft Office PowerPoint</Application>
  <PresentationFormat>Widescreen</PresentationFormat>
  <Paragraphs>68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Symbol</vt:lpstr>
      <vt:lpstr>EDAG DARK Mode GRAY CORNER</vt:lpstr>
      <vt:lpstr>EDAG LIGHT Mode WITHOUT CORNER</vt:lpstr>
      <vt:lpstr>PowerPoint Presentation</vt:lpstr>
      <vt:lpstr>PowerPoint Presentation</vt:lpstr>
      <vt:lpstr>1. Project Overview</vt:lpstr>
      <vt:lpstr>PowerPoint Presentation</vt:lpstr>
      <vt:lpstr>3. Tech Stack &amp; Python Concepts Used</vt:lpstr>
      <vt:lpstr>4. Output Report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lastModifiedBy>Ugare, Parth</cp:lastModifiedBy>
  <cp:revision>5</cp:revision>
  <dcterms:created xsi:type="dcterms:W3CDTF">2026-04-08T13:27:13Z</dcterms:created>
  <dcterms:modified xsi:type="dcterms:W3CDTF">2026-07-21T14:20:26Z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